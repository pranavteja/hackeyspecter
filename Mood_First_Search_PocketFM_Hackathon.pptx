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e5b57ffc3b43b3" /><Relationship Type="http://schemas.openxmlformats.org/officeDocument/2006/relationships/extended-properties" Target="/docProps/app.xml" Id="Rfcbfe4c18cc74843" /><Relationship Type="http://schemas.openxmlformats.org/officeDocument/2006/relationships/officeDocument" Target="/ppt/presentation.xml" Id="R13a29ae2b2ad4d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639fabd170462a"/>
  </p:sldMasterIdLst>
  <p:notesMasterIdLst>
    <p:notesMasterId xmlns:r="http://schemas.openxmlformats.org/officeDocument/2006/relationships" r:id="Rc56086cf7f1f4579"/>
  </p:notesMasterIdLst>
  <p:sldIdLst>
    <p:sldId xmlns:r="http://schemas.openxmlformats.org/officeDocument/2006/relationships" id="256" r:id="R96a4fa66da534296"/>
    <p:sldId xmlns:r="http://schemas.openxmlformats.org/officeDocument/2006/relationships" id="257" r:id="R21e02b43749f4624"/>
    <p:sldId xmlns:r="http://schemas.openxmlformats.org/officeDocument/2006/relationships" id="258" r:id="R46f214ff48874346"/>
    <p:sldId xmlns:r="http://schemas.openxmlformats.org/officeDocument/2006/relationships" id="259" r:id="R4625861e10b84b00"/>
    <p:sldId xmlns:r="http://schemas.openxmlformats.org/officeDocument/2006/relationships" id="260" r:id="R0011ea16c2ab46e1"/>
    <p:sldId xmlns:r="http://schemas.openxmlformats.org/officeDocument/2006/relationships" id="261" r:id="R4ce9d5df2dbe4857"/>
    <p:sldId xmlns:r="http://schemas.openxmlformats.org/officeDocument/2006/relationships" id="262" r:id="R29ad62be7333475b"/>
    <p:sldId xmlns:r="http://schemas.openxmlformats.org/officeDocument/2006/relationships" id="263" r:id="R67472f025904402c"/>
    <p:sldId xmlns:r="http://schemas.openxmlformats.org/officeDocument/2006/relationships" id="264" r:id="Rb86cf807c19548ba"/>
    <p:sldId xmlns:r="http://schemas.openxmlformats.org/officeDocument/2006/relationships" id="265" r:id="R951b505728fa4525"/>
    <p:sldId xmlns:r="http://schemas.openxmlformats.org/officeDocument/2006/relationships" id="266" r:id="Ra4e61fa214064360"/>
    <p:sldId xmlns:r="http://schemas.openxmlformats.org/officeDocument/2006/relationships" id="267" r:id="R27cfad606c984a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5f2da01d464ae1" /><Relationship Type="http://schemas.openxmlformats.org/officeDocument/2006/relationships/slideMaster" Target="/ppt/slideMasters/slideMaster1.xml" Id="Rd2639fabd170462a" /><Relationship Type="http://schemas.openxmlformats.org/officeDocument/2006/relationships/notesMaster" Target="/ppt/notesMasters/notesMaster1.xml" Id="Rc56086cf7f1f4579" /><Relationship Type="http://schemas.openxmlformats.org/officeDocument/2006/relationships/presProps" Target="/ppt/presProps.xml" Id="R387d8afe47844e8c" /><Relationship Type="http://schemas.openxmlformats.org/officeDocument/2006/relationships/tableStyles" Target="/ppt/tableStyles.xml" Id="Rb21f3ace13f3491e" /><Relationship Type="http://schemas.openxmlformats.org/officeDocument/2006/relationships/slide" Target="/ppt/slides/slide1.xml" Id="R96a4fa66da534296" /><Relationship Type="http://schemas.openxmlformats.org/officeDocument/2006/relationships/slide" Target="/ppt/slides/slide2.xml" Id="R21e02b43749f4624" /><Relationship Type="http://schemas.openxmlformats.org/officeDocument/2006/relationships/slide" Target="/ppt/slides/slide3.xml" Id="R46f214ff48874346" /><Relationship Type="http://schemas.openxmlformats.org/officeDocument/2006/relationships/slide" Target="/ppt/slides/slide4.xml" Id="R4625861e10b84b00" /><Relationship Type="http://schemas.openxmlformats.org/officeDocument/2006/relationships/slide" Target="/ppt/slides/slide5.xml" Id="R0011ea16c2ab46e1" /><Relationship Type="http://schemas.openxmlformats.org/officeDocument/2006/relationships/slide" Target="/ppt/slides/slide6.xml" Id="R4ce9d5df2dbe4857" /><Relationship Type="http://schemas.openxmlformats.org/officeDocument/2006/relationships/slide" Target="/ppt/slides/slide7.xml" Id="R29ad62be7333475b" /><Relationship Type="http://schemas.openxmlformats.org/officeDocument/2006/relationships/slide" Target="/ppt/slides/slide8.xml" Id="R67472f025904402c" /><Relationship Type="http://schemas.openxmlformats.org/officeDocument/2006/relationships/slide" Target="/ppt/slides/slide9.xml" Id="Rb86cf807c19548ba" /><Relationship Type="http://schemas.openxmlformats.org/officeDocument/2006/relationships/slide" Target="/ppt/slides/slide10.xml" Id="R951b505728fa4525" /><Relationship Type="http://schemas.openxmlformats.org/officeDocument/2006/relationships/slide" Target="/ppt/slides/slide11.xml" Id="Ra4e61fa214064360" /><Relationship Type="http://schemas.openxmlformats.org/officeDocument/2006/relationships/slide" Target="/ppt/slides/slide12.xml" Id="R27cfad606c984a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6855114f1340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03801b21104e5d" /><Relationship Type="http://schemas.openxmlformats.org/officeDocument/2006/relationships/notesMaster" Target="/ppt/notesMasters/notesMaster1.xml" Id="R20468f2d426d43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e38c4b53da48fe" /><Relationship Type="http://schemas.openxmlformats.org/officeDocument/2006/relationships/notesMaster" Target="/ppt/notesMasters/notesMaster1.xml" Id="Ra8666b649ad447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7ed1bcc9784d8e" /><Relationship Type="http://schemas.openxmlformats.org/officeDocument/2006/relationships/notesMaster" Target="/ppt/notesMasters/notesMaster1.xml" Id="R6e7cafb117ac4d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7390c7f1f8472a" /><Relationship Type="http://schemas.openxmlformats.org/officeDocument/2006/relationships/notesMaster" Target="/ppt/notesMasters/notesMaster1.xml" Id="R970ff2c74a7046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d12d7a210443ee" /><Relationship Type="http://schemas.openxmlformats.org/officeDocument/2006/relationships/notesMaster" Target="/ppt/notesMasters/notesMaster1.xml" Id="Rf5ab34e2295e4b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03164c20eb414b" /><Relationship Type="http://schemas.openxmlformats.org/officeDocument/2006/relationships/notesMaster" Target="/ppt/notesMasters/notesMaster1.xml" Id="Rf6f8fbb5b98d4e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38e753314b4a65" /><Relationship Type="http://schemas.openxmlformats.org/officeDocument/2006/relationships/notesMaster" Target="/ppt/notesMasters/notesMaster1.xml" Id="R61fd1bee735d43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d7ad86d5894226" /><Relationship Type="http://schemas.openxmlformats.org/officeDocument/2006/relationships/notesMaster" Target="/ppt/notesMasters/notesMaster1.xml" Id="R14abfad7990749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dad8ec51b84955" /><Relationship Type="http://schemas.openxmlformats.org/officeDocument/2006/relationships/notesMaster" Target="/ppt/notesMasters/notesMaster1.xml" Id="Rff0e8b7ffbec45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31283f61cb4bce" /><Relationship Type="http://schemas.openxmlformats.org/officeDocument/2006/relationships/notesMaster" Target="/ppt/notesMasters/notesMaster1.xml" Id="Rc027b58554fd46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d896567ea846a7" /><Relationship Type="http://schemas.openxmlformats.org/officeDocument/2006/relationships/notesMaster" Target="/ppt/notesMasters/notesMaster1.xml" Id="R55ad14e9025e47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91847dc4cb45dc" /><Relationship Type="http://schemas.openxmlformats.org/officeDocument/2006/relationships/notesMaster" Target="/ppt/notesMasters/notesMaster1.xml" Id="Rc4820024ed1549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D:\pocket_fm_hackathon\Hackathon Strategy_ Mood-Based Search.pdf</a:t>
            </a:r>
          </a:p>
          <a:p xmlns:a="http://schemas.openxmlformats.org/drawingml/2006/main">
            <a:r>
              <a:t>D:\pocket_fm_hackathon\working_code\hackeyspecter-backend_working\README.md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D:\pocket_fm_hackathon\Hackathon Strategy_ Mood-Based Search.pdf</a:t>
            </a:r>
          </a:p>
          <a:p xmlns:a="http://schemas.openxmlformats.org/drawingml/2006/main">
            <a:r>
              <a:t>D:\pocket_fm_hackathon\working_code\hackeyspecter-backend_working\README.md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prototype observation: LLM keyword extraction took ~30 seconds and produced the cited poor match example.</a:t>
            </a:r>
          </a:p>
          <a:p xmlns:a="http://schemas.openxmlformats.org/drawingml/2006/main">
            <a:r>
              <a:t>D:\pocket_fm_hackathon\working_code\hackeyspecter-backend_working\search_engine.py</a:t>
            </a:r>
          </a:p>
          <a:p xmlns:a="http://schemas.openxmlformats.org/drawingml/2006/main">
            <a:r>
              <a:t>D:\pocket_fm_hackathon\working_code\hackeyspecter-backend_working\recommend_and_pitch.py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D:\pocket_fm_hackathon\working_code\hackeyspecter-backend_working\recommend_and_pitch.py</a:t>
            </a:r>
          </a:p>
          <a:p xmlns:a="http://schemas.openxmlformats.org/drawingml/2006/main">
            <a:r>
              <a:t>D:\pocket_fm_hackathon\working_code\hackeyspecter-backend_working\mood_engine\engine.py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D:\pocket_fm_hackathon\working_code\hackeyspecter-backend_working\audio_utils.py</a:t>
            </a:r>
          </a:p>
          <a:p xmlns:a="http://schemas.openxmlformats.org/drawingml/2006/main">
            <a:r>
              <a:t>D:\pocket_fm_hackathon\working_code\hackeyspecter-backend_working\app.py</a:t>
            </a:r>
          </a:p>
          <a:p xmlns:a="http://schemas.openxmlformats.org/drawingml/2006/main">
            <a:r>
              <a:t>D:\pocket_fm_hackathon\ultimate_pocketfm_master_dataset_with_embeddings.json (40,597 cmu_id records counted locally)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D:\pocket_fm_hackathon\pocket_fm_dataset_generation.py</a:t>
            </a:r>
          </a:p>
          <a:p xmlns:a="http://schemas.openxmlformats.org/drawingml/2006/main">
            <a:r>
              <a:t>D:\pocket_fm_hackathon\ultimate_pocketfm_master_dataset_with_embeddings.json (40,597 cmu_id records counted locally)</a:t>
            </a:r>
          </a:p>
          <a:p xmlns:a="http://schemas.openxmlformats.org/drawingml/2006/main">
            <a:r>
              <a:t>User-provided project fact: 4,000+ cross-media titles added.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D:\pocket_fm_hackathon\pocket_fm_dataset_generation.py</a:t>
            </a:r>
          </a:p>
          <a:p xmlns:a="http://schemas.openxmlformats.org/drawingml/2006/main">
            <a:r>
              <a:t>D:\pocket_fm_hackathon\working_code\hackeyspecter-backend_working\preprocess_stories.py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D:\pocket_fm_hackathon\working_code\hackeyspecter-backend_working\preprocess_stories.py</a:t>
            </a:r>
          </a:p>
          <a:p xmlns:a="http://schemas.openxmlformats.org/drawingml/2006/main">
            <a:r>
              <a:t>D:\pocket_fm_hackathon\working_code\hackeyspecter-backend_working\search_engine.py</a:t>
            </a:r>
          </a:p>
          <a:p xmlns:a="http://schemas.openxmlformats.org/drawingml/2006/main">
            <a:r>
              <a:t>D:\pocket_fm_hackathon\working_code\hackeyspecter-backend_working\recommend_and_pitch.py</a:t>
            </a:r>
          </a:p>
          <a:p xmlns:a="http://schemas.openxmlformats.org/drawingml/2006/main">
            <a:r>
              <a:t>Note: Top-20 is a scale-ready gate. The current backend retrieves/reranks Top-5.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D:\pocket_fm_hackathon\Hackathon Strategy_ Mood-Based Search.pdf (12-axis emotional framework)</a:t>
            </a:r>
          </a:p>
          <a:p xmlns:a="http://schemas.openxmlformats.org/drawingml/2006/main">
            <a:r>
              <a:t>D:\pocket_fm_hackathon\working_code\hackeyspecter-backend_working\mood_engine\engine.py</a:t>
            </a:r>
          </a:p>
          <a:p xmlns:a="http://schemas.openxmlformats.org/drawingml/2006/main">
            <a:r>
              <a:t>Radar values are illustrative prototype benchmarks, not measured catalog aggregates.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D:\pocket_fm_hackathon\Hackathon Strategy_ Mood-Based Search.pdf (vector distance / unmet demand concept)</a:t>
            </a:r>
          </a:p>
          <a:p xmlns:a="http://schemas.openxmlformats.org/drawingml/2006/main">
            <a:r>
              <a:t>D:\pocket_fm_hackathon\working_code\hackeyspecter-backend_working\search_engine.py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D:\pocket_fm_hackathon\Hackathon Strategy_ Mood-Based Search.pdf</a:t>
            </a:r>
          </a:p>
          <a:p xmlns:a="http://schemas.openxmlformats.org/drawingml/2006/main">
            <a:r>
              <a:t>Business outcomes are a product hypothesis / logic chain, not a claimed measured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D:\pocket_fm_hackathon\Hackathon Strategy_ Mood-Based Search.pdf</a:t>
            </a:r>
          </a:p>
          <a:p xmlns:a="http://schemas.openxmlformats.org/drawingml/2006/main">
            <a:r>
              <a:t>D:\pocket_fm_hackathon\working_code\hackeyspecter-backend_working\README.md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c483dc136044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1911eea0c3474a" /><Relationship Type="http://schemas.openxmlformats.org/officeDocument/2006/relationships/slideLayout" Target="/ppt/slideLayouts/slideLayout1.xml" Id="Rcd1bc576dda540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1bc576dda540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abc761e734f1a" /><Relationship Type="http://schemas.openxmlformats.org/officeDocument/2006/relationships/notesSlide" Target="/ppt/notesSlides/notesSlide1.xml" Id="R3de93783bdc841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4fca6bd054521" /><Relationship Type="http://schemas.openxmlformats.org/officeDocument/2006/relationships/notesSlide" Target="/ppt/notesSlides/notesSlide2.xml" Id="R6508efb9404f43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271ba0e024ae1" /><Relationship Type="http://schemas.openxmlformats.org/officeDocument/2006/relationships/notesSlide" Target="/ppt/notesSlides/notesSlide3.xml" Id="R1fee037e285948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015c2c95b4547" /><Relationship Type="http://schemas.openxmlformats.org/officeDocument/2006/relationships/notesSlide" Target="/ppt/notesSlides/notesSlide4.xml" Id="R257b1943485641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4e738c54c477a" /><Relationship Type="http://schemas.openxmlformats.org/officeDocument/2006/relationships/notesSlide" Target="/ppt/notesSlides/notesSlide5.xml" Id="R2726dfd7e46940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953d4deef41a4" /><Relationship Type="http://schemas.openxmlformats.org/officeDocument/2006/relationships/notesSlide" Target="/ppt/notesSlides/notesSlide6.xml" Id="Re67663d519c640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84bba4a4a4805" /><Relationship Type="http://schemas.openxmlformats.org/officeDocument/2006/relationships/notesSlide" Target="/ppt/notesSlides/notesSlide7.xml" Id="R70709ad668b34b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b1d6be7fe49b8" /><Relationship Type="http://schemas.openxmlformats.org/officeDocument/2006/relationships/notesSlide" Target="/ppt/notesSlides/notesSlide8.xml" Id="R1b8f3718112942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0c040a9ff45ed" /><Relationship Type="http://schemas.openxmlformats.org/officeDocument/2006/relationships/notesSlide" Target="/ppt/notesSlides/notesSlide9.xml" Id="R153f9c3bb32343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c9ffc680d4bd7" /><Relationship Type="http://schemas.openxmlformats.org/officeDocument/2006/relationships/notesSlide" Target="/ppt/notesSlides/notesSlide10.xml" Id="Rfa5c5af3114d48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9ce2bd0e14a9e" /><Relationship Type="http://schemas.openxmlformats.org/officeDocument/2006/relationships/notesSlide" Target="/ppt/notesSlides/notesSlide11.xml" Id="R9500312e5eb547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438b41e844805" /><Relationship Type="http://schemas.openxmlformats.org/officeDocument/2006/relationships/notesSlide" Target="/ppt/notesSlides/notesSlide12.xml" Id="R8bd22ea5e91f42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0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orb-1">
            <a:extLst xmlns:a="http://schemas.openxmlformats.org/drawingml/2006/main">
              <a:ext uri="{FF2B5EF4-FFF2-40B4-BE49-F238E27FC236}">
                <a16:creationId xmlns:a16="http://schemas.microsoft.com/office/drawing/2014/main" id="{43FF42A4-C987-4380-9D21-998B0EE9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4286250" cy="428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1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b-2">
            <a:extLst xmlns:a="http://schemas.openxmlformats.org/drawingml/2006/main">
              <a:ext uri="{FF2B5EF4-FFF2-40B4-BE49-F238E27FC236}">
                <a16:creationId xmlns:a16="http://schemas.microsoft.com/office/drawing/2014/main" id="{564316F2-EF0F-46CC-AC69-5FAC5BE5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orb-3">
            <a:extLst xmlns:a="http://schemas.openxmlformats.org/drawingml/2006/main">
              <a:ext uri="{FF2B5EF4-FFF2-40B4-BE49-F238E27FC236}">
                <a16:creationId xmlns:a16="http://schemas.microsoft.com/office/drawing/2014/main" id="{25AF3091-59DF-4451-B8DB-633FB806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476375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174FA62-B502-432D-8D8E-ECEFEE54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6DCE1"/>
                </a:solidFill>
              </a:defRPr>
            </a:pPr>
            <a:r>
              <a:rPr sz="975" b="1" i="0">
                <a:solidFill>
                  <a:srgbClr val="F6DCE1"/>
                </a:solidFill>
              </a:rPr>
              <a:t>ZERO TO ONE BY POCKET FM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BDB4096-C54B-4B33-87D2-3100EC0D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95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FFFFFF"/>
                </a:solidFill>
              </a:defRPr>
            </a:pPr>
            <a:r>
              <a:rPr sz="4950" b="1" i="0">
                <a:solidFill>
                  <a:srgbClr val="FFFFFF"/>
                </a:solidFill>
              </a:rPr>
              <a:t>Moodio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45F2FAC-9FD6-4029-931C-7B397C07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E9DFFF"/>
                </a:solidFill>
              </a:defRPr>
            </a:pPr>
            <a:r>
              <a:rPr sz="2325" b="1" i="0">
                <a:solidFill>
                  <a:srgbClr val="E9DFFF"/>
                </a:solidFill>
              </a:rPr>
              <a:t>Mood First Search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EA595EE-DD6E-407D-A6D9-9AB65115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9DFFF"/>
                </a:solidFill>
              </a:defRPr>
            </a:pPr>
            <a:r>
              <a:rPr sz="1875" b="1" i="0">
                <a:solidFill>
                  <a:srgbClr val="E9DFFF"/>
                </a:solidFill>
              </a:rPr>
              <a:t>Creator Superpowers &amp; Discovery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0C89A2B-C07A-487E-803A-2ABC2629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CD5E6"/>
                </a:solidFill>
              </a:defRPr>
            </a:pPr>
            <a:r>
              <a:rPr sz="1575" b="0" i="0">
                <a:solidFill>
                  <a:srgbClr val="DCD5E6"/>
                </a:solidFill>
              </a:rPr>
              <a:t>Find the story that meets the moment — and make the reason feel personal.</a:t>
            </a:r>
          </a:p>
        </p:txBody>
      </p:sp>
      <p:sp>
        <p:nvSpPr>
          <p:cNvPr id="9" name="pill">
            <a:extLst xmlns:a="http://schemas.openxmlformats.org/drawingml/2006/main">
              <a:ext uri="{FF2B5EF4-FFF2-40B4-BE49-F238E27FC236}">
                <a16:creationId xmlns:a16="http://schemas.microsoft.com/office/drawing/2014/main" id="{DED3A697-46C0-438F-B974-CF0BB6E3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3333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2540"/>
                </a:solidFill>
              </a:defRPr>
            </a:pPr>
            <a:r>
              <a:rPr sz="900" b="1">
                <a:solidFill>
                  <a:srgbClr val="2B2540"/>
                </a:solidFill>
              </a:rPr>
              <a:t>A rainy Sunday after heartbreak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4A12226-2AAD-4004-9840-61416B8A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B703"/>
                </a:solidFill>
              </a:defRPr>
            </a:pPr>
            <a:r>
              <a:rPr sz="1200" b="1" i="0">
                <a:solidFill>
                  <a:srgbClr val="FFB703"/>
                </a:solidFill>
              </a:rPr>
              <a:t>Emotion is the new search query.</a:t>
            </a:r>
          </a:p>
        </p:txBody>
      </p:sp>
      <p:sp>
        <p:nvSpPr>
          <p:cNvPr id="11" name="team-name">
            <a:extLst xmlns:a="http://schemas.openxmlformats.org/drawingml/2006/main">
              <a:ext uri="{FF2B5EF4-FFF2-40B4-BE49-F238E27FC236}">
                <a16:creationId xmlns:a16="http://schemas.microsoft.com/office/drawing/2014/main" id="{6BA9DAC4-90C0-48EB-93F3-D46A395C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HACKEY SPECTER</a:t>
            </a:r>
          </a:p>
        </p:txBody>
      </p:sp>
      <p:sp>
        <p:nvSpPr>
          <p:cNvPr id="12" name="team-members">
            <a:extLst xmlns:a="http://schemas.openxmlformats.org/drawingml/2006/main">
              <a:ext uri="{FF2B5EF4-FFF2-40B4-BE49-F238E27FC236}">
                <a16:creationId xmlns:a16="http://schemas.microsoft.com/office/drawing/2014/main" id="{7AE9C1F4-F371-4BB8-8648-36EB6551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CD5E6"/>
                </a:solidFill>
              </a:defRPr>
            </a:pPr>
            <a:r>
              <a:rPr sz="1200" b="0" i="0">
                <a:solidFill>
                  <a:srgbClr val="DCD5E6"/>
                </a:solidFill>
              </a:rPr>
              <a:t>Sourabh Agrawal  •  Pranav Teja  •  Sumit Chauhan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70BD3D1-EC8B-472D-8D49-58ED6587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25675"/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BCD7BC13-75A2-49DA-8922-0B833E06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DCD5E6"/>
                </a:solidFill>
              </a:defRPr>
            </a:pPr>
            <a:r>
              <a:rPr sz="750" b="1" i="0">
                <a:solidFill>
                  <a:srgbClr val="DCD5E6"/>
                </a:solidFill>
              </a:rPr>
              <a:t>MOOD FIRST SEARCH  •  ZERO TO ONE BY POCKET FM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C25503-880E-4342-8FD9-57E6B372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DCD5E6"/>
                </a:solidFill>
              </a:defRPr>
            </a:pPr>
            <a:r>
              <a:rPr sz="750" b="1" i="0">
                <a:solidFill>
                  <a:srgbClr val="DCD5E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974984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70BA84D2-071A-461D-B5E1-06471706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5A5F"/>
                </a:solidFill>
              </a:defRPr>
            </a:pPr>
            <a:r>
              <a:rPr sz="975" b="1" i="0">
                <a:solidFill>
                  <a:srgbClr val="FF5A5F"/>
                </a:solidFill>
              </a:rPr>
              <a:t>POCKET FM CONTEXT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A793F253-D874-4C50-A42D-1EFA173B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41022"/>
                </a:solidFill>
              </a:defRPr>
            </a:pPr>
            <a:r>
              <a:rPr sz="2775" b="1" i="0">
                <a:solidFill>
                  <a:srgbClr val="141022"/>
                </a:solidFill>
              </a:rPr>
              <a:t>Genre is a shelf. Feeling is the intent.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668DE92-AFFB-4A92-B652-6EB917C0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72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B657A"/>
                </a:solidFill>
              </a:defRPr>
            </a:pPr>
            <a:r>
              <a:rPr sz="900" b="1" i="0">
                <a:solidFill>
                  <a:srgbClr val="6B657A"/>
                </a:solidFill>
              </a:rPr>
              <a:t>02  /  12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D342B5E-CE9B-4BBD-B6E5-169296CF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B2540"/>
                </a:solidFill>
              </a:defRPr>
            </a:pPr>
            <a:r>
              <a:rPr sz="1725" b="0" i="0">
                <a:solidFill>
                  <a:srgbClr val="2B2540"/>
                </a:solidFill>
              </a:rPr>
              <a:t>A highly curated catalog deserves discovery that understands why a listener is here now.</a:t>
            </a:r>
          </a:p>
        </p:txBody>
      </p:sp>
      <p:sp>
        <p:nvSpPr>
          <p:cNvPr id="5" name="callout">
            <a:extLst xmlns:a="http://schemas.openxmlformats.org/drawingml/2006/main">
              <a:ext uri="{FF2B5EF4-FFF2-40B4-BE49-F238E27FC236}">
                <a16:creationId xmlns:a16="http://schemas.microsoft.com/office/drawing/2014/main" id="{7F46EA88-C66B-4B4C-BB29-4F21AC3E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2905125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callout-accent">
            <a:extLst xmlns:a="http://schemas.openxmlformats.org/drawingml/2006/main">
              <a:ext uri="{FF2B5EF4-FFF2-40B4-BE49-F238E27FC236}">
                <a16:creationId xmlns:a16="http://schemas.microsoft.com/office/drawing/2014/main" id="{0C4F292C-D2D7-4739-A29B-85023C00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0111A99-EF32-4F82-9589-7704F50E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2486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657A"/>
                </a:solidFill>
              </a:defRPr>
            </a:pPr>
            <a:r>
              <a:rPr sz="975" b="1" i="0">
                <a:solidFill>
                  <a:srgbClr val="6B657A"/>
                </a:solidFill>
              </a:rPr>
              <a:t>WHAT USERS CAN SAY TODAY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5A3B52C-1507-4F3A-BC53-307ED1A5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2466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B2540"/>
                </a:solidFill>
              </a:defRPr>
            </a:pPr>
            <a:r>
              <a:rPr sz="1350" b="0" i="0">
                <a:solidFill>
                  <a:srgbClr val="2B2540"/>
                </a:solidFill>
              </a:rPr>
              <a:t>“Drama”</a:t>
            </a:r>
          </a:p>
        </p:txBody>
      </p:sp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AD791C3C-E2DA-449C-8085-8E0D1C03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43150"/>
            <a:ext cx="5953125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callout-accent">
            <a:extLst xmlns:a="http://schemas.openxmlformats.org/drawingml/2006/main">
              <a:ext uri="{FF2B5EF4-FFF2-40B4-BE49-F238E27FC236}">
                <a16:creationId xmlns:a16="http://schemas.microsoft.com/office/drawing/2014/main" id="{81263D85-E34C-42F5-BE4C-19784525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431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01412DA-9915-4712-9594-CB27C3D2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33650"/>
            <a:ext cx="553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5A5F"/>
                </a:solidFill>
              </a:defRPr>
            </a:pPr>
            <a:r>
              <a:rPr sz="975" b="1" i="0">
                <a:solidFill>
                  <a:srgbClr val="FF5A5F"/>
                </a:solidFill>
              </a:rPr>
              <a:t>WHAT THEY ACTUALLY MEAN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A9A2F6F-F1B6-4488-B90A-CAF5D405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19400"/>
            <a:ext cx="551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B2540"/>
                </a:solidFill>
              </a:defRPr>
            </a:pPr>
            <a:r>
              <a:rPr sz="1350" b="0" i="0">
                <a:solidFill>
                  <a:srgbClr val="2B2540"/>
                </a:solidFill>
              </a:rPr>
              <a:t>“I need a slow-burn story that hurts a little but ends with hope.”</a:t>
            </a:r>
          </a:p>
        </p:txBody>
      </p:sp>
      <p:sp>
        <p:nvSpPr>
          <p:cNvPr id="13" name="intent-arrow">
            <a:extLst xmlns:a="http://schemas.openxmlformats.org/drawingml/2006/main">
              <a:ext uri="{FF2B5EF4-FFF2-40B4-BE49-F238E27FC236}">
                <a16:creationId xmlns:a16="http://schemas.microsoft.com/office/drawing/2014/main" id="{F5AF7D71-BA15-40D4-8986-AF7CE6A0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95575"/>
            <a:ext cx="5524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F5CC88E-3F20-4FD2-9691-6C67268F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1022"/>
                </a:solidFill>
              </a:defRPr>
            </a:pPr>
            <a:r>
              <a:rPr sz="1875" b="1" i="0">
                <a:solidFill>
                  <a:srgbClr val="141022"/>
                </a:solidFill>
              </a:rPr>
              <a:t>Traditional search groups titles by category. It misses the lived situation that creates the listening moment.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5CC5FC7-EF60-4C71-9F73-8DC87E4A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D28D9"/>
                </a:solidFill>
              </a:defRPr>
            </a:pPr>
            <a:r>
              <a:rPr sz="1500" b="1" i="0">
                <a:solidFill>
                  <a:srgbClr val="6D28D9"/>
                </a:solidFill>
              </a:rPr>
              <a:t>Mood First Search turns a feeling into a confident first play.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29F27B1-0C1F-4B65-8896-31EC9134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DFEA"/>
            </a:solidFill>
            <a:prstDash val="solid"/>
          </a:ln>
        </p:spPr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DA1C4C9C-AB27-4D9C-9248-C956E167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97186"/>
                </a:solidFill>
              </a:defRPr>
            </a:pPr>
            <a:r>
              <a:rPr sz="750" b="1" i="0">
                <a:solidFill>
                  <a:srgbClr val="797186"/>
                </a:solidFill>
              </a:rPr>
              <a:t>MOOD FIRST SEARCH  •  ZERO TO ONE BY POCKET FM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EBBF443-F4E0-4033-888D-D7A5B1DC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97186"/>
                </a:solidFill>
              </a:defRPr>
            </a:pPr>
            <a:r>
              <a:rPr sz="750" b="1" i="0">
                <a:solidFill>
                  <a:srgbClr val="79718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831683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0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51A4CB5-48E4-40DD-8B22-643191AB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B703"/>
                </a:solidFill>
              </a:defRPr>
            </a:pPr>
            <a:r>
              <a:rPr sz="975" b="1" i="0">
                <a:solidFill>
                  <a:srgbClr val="FFB703"/>
                </a:solidFill>
              </a:rPr>
              <a:t>RETRIEVAL BREAKTHROUGH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1967BB0-C377-48CC-96AA-06BD9FE5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FFFFFF"/>
                </a:solidFill>
              </a:defRPr>
            </a:pPr>
            <a:r>
              <a:rPr sz="2775" b="1" i="0">
                <a:solidFill>
                  <a:srgbClr val="FFFFFF"/>
                </a:solidFill>
              </a:rPr>
              <a:t>The first search felt slow — and missed the feeling.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CF47E79-5A4C-4F4C-ACFA-1FA33BDE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CD5E6"/>
                </a:solidFill>
              </a:defRPr>
            </a:pPr>
            <a:r>
              <a:rPr sz="1575" b="0" i="0">
                <a:solidFill>
                  <a:srgbClr val="DCD5E6"/>
                </a:solidFill>
              </a:rPr>
              <a:t>We moved the LLM from catalog-scanning to the place where it adds the most value: fine-tuning the final match.</a:t>
            </a:r>
          </a:p>
        </p:txBody>
      </p:sp>
      <p:sp>
        <p:nvSpPr>
          <p:cNvPr id="4" name="before-panel">
            <a:extLst xmlns:a="http://schemas.openxmlformats.org/drawingml/2006/main">
              <a:ext uri="{FF2B5EF4-FFF2-40B4-BE49-F238E27FC236}">
                <a16:creationId xmlns:a16="http://schemas.microsoft.com/office/drawing/2014/main" id="{A6116EED-13E5-4F91-9ED2-F2D4D57A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619625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2A2039"/>
          </a:solidFill>
          <a:ln xmlns:a="http://schemas.openxmlformats.org/drawingml/2006/main" w="9525">
            <a:solidFill>
              <a:srgbClr val="5C4C7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F7B372C-E6A6-4F6A-9555-192E3B25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5A5F"/>
                </a:solidFill>
              </a:defRPr>
            </a:pPr>
            <a:r>
              <a:rPr sz="900" b="1" i="0">
                <a:solidFill>
                  <a:srgbClr val="FF5A5F"/>
                </a:solidFill>
              </a:rPr>
              <a:t>EARLY PROTOTYPE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E205E39-A2A2-47C9-A5BB-F02D5B63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LLM extracts keywords</a:t>
            </a:r>
          </a:p>
          <a:p xmlns:a="http://schemas.openxmlformats.org/drawingml/2006/main">
            <a:pPr algn="l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across the catalog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08EBF2-C954-41FC-8437-8A28E28A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B703"/>
                </a:solidFill>
              </a:defRPr>
            </a:pPr>
            <a:r>
              <a:rPr sz="1275" b="1" i="0">
                <a:solidFill>
                  <a:srgbClr val="FFB703"/>
                </a:solidFill>
              </a:rPr>
              <a:t>~30 seconds per query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4453AC9-262A-4156-B60D-6D321417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DCD5E6"/>
                </a:solidFill>
              </a:defRPr>
            </a:pPr>
            <a:r>
              <a:rPr sz="1200" b="0" i="1">
                <a:solidFill>
                  <a:srgbClr val="DCD5E6"/>
                </a:solidFill>
              </a:rPr>
              <a:t>“I’m feeling sad”  →  “Kota Factory”</a:t>
            </a:r>
          </a:p>
        </p:txBody>
      </p:sp>
      <p:sp>
        <p:nvSpPr>
          <p:cNvPr id="9" name="after-panel">
            <a:extLst xmlns:a="http://schemas.openxmlformats.org/drawingml/2006/main">
              <a:ext uri="{FF2B5EF4-FFF2-40B4-BE49-F238E27FC236}">
                <a16:creationId xmlns:a16="http://schemas.microsoft.com/office/drawing/2014/main" id="{5FBC5436-14EA-4665-AA5A-FCF56B9F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09800"/>
            <a:ext cx="4619625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5F0FF"/>
          </a:solidFill>
          <a:ln xmlns:a="http://schemas.openxmlformats.org/drawingml/2006/main" w="9525">
            <a:solidFill>
              <a:srgbClr val="CCB8F3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F98F8BE-3DB4-4B81-AD6D-DA12363A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955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D28D9"/>
                </a:solidFill>
              </a:defRPr>
            </a:pPr>
            <a:r>
              <a:rPr sz="900" b="1" i="0">
                <a:solidFill>
                  <a:srgbClr val="6D28D9"/>
                </a:solidFill>
              </a:rPr>
              <a:t>CURRENT ENGINE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B4CFEEB-5C67-4776-9F6C-9E426CA7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765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41022"/>
                </a:solidFill>
              </a:defRPr>
            </a:pPr>
            <a:r>
              <a:rPr sz="2025" b="1" i="0">
                <a:solidFill>
                  <a:srgbClr val="141022"/>
                </a:solidFill>
              </a:rPr>
              <a:t>Vector retrieval +</a:t>
            </a:r>
          </a:p>
          <a:p xmlns:a="http://schemas.openxmlformats.org/drawingml/2006/main">
            <a:pPr algn="l">
              <a:defRPr sz="2025" b="1" i="0">
                <a:solidFill>
                  <a:srgbClr val="141022"/>
                </a:solidFill>
              </a:defRPr>
            </a:pPr>
            <a:r>
              <a:rPr sz="2025" b="1" i="0">
                <a:solidFill>
                  <a:srgbClr val="141022"/>
                </a:solidFill>
              </a:rPr>
              <a:t>LLM fine-tuning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2DA024F-B0A2-4B0B-8E8A-94A23253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9570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4A969"/>
                </a:solidFill>
              </a:defRPr>
            </a:pPr>
            <a:r>
              <a:rPr sz="1275" b="1" i="0">
                <a:solidFill>
                  <a:srgbClr val="24A969"/>
                </a:solidFill>
              </a:rPr>
              <a:t>Fast shortlist. Nuanced final fit.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AB4A8DE-078F-4AF4-8A22-5386108A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338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2B2540"/>
                </a:solidFill>
              </a:defRPr>
            </a:pPr>
            <a:r>
              <a:rPr sz="1200" b="0" i="1">
                <a:solidFill>
                  <a:srgbClr val="2B2540"/>
                </a:solidFill>
              </a:rPr>
              <a:t>The model reasons over candidates — not 40,000 summaries.</a:t>
            </a:r>
          </a:p>
        </p:txBody>
      </p:sp>
      <p:sp>
        <p:nvSpPr>
          <p:cNvPr id="14" name="breakthrough-arrow">
            <a:extLst xmlns:a="http://schemas.openxmlformats.org/drawingml/2006/main">
              <a:ext uri="{FF2B5EF4-FFF2-40B4-BE49-F238E27FC236}">
                <a16:creationId xmlns:a16="http://schemas.microsoft.com/office/drawing/2014/main" id="{EDADD7A2-B343-455F-A5A5-0956817F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76600"/>
            <a:ext cx="9144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reakthrough-takeaway">
            <a:extLst xmlns:a="http://schemas.openxmlformats.org/drawingml/2006/main">
              <a:ext uri="{FF2B5EF4-FFF2-40B4-BE49-F238E27FC236}">
                <a16:creationId xmlns:a16="http://schemas.microsoft.com/office/drawing/2014/main" id="{0C447975-86B0-460B-AA0B-F10A3B2C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3A2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DB7129F-B923-4F94-A124-7D329A00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Result: faster, mood-accurate recommendations that can explain the match.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82E9F3C-D411-48CE-908F-9C9C69DE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25675"/>
            </a:solidFill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A9E0F95D-E7F9-43A6-9F93-86FC027D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DCD5E6"/>
                </a:solidFill>
              </a:defRPr>
            </a:pPr>
            <a:r>
              <a:rPr sz="750" b="1" i="0">
                <a:solidFill>
                  <a:srgbClr val="DCD5E6"/>
                </a:solidFill>
              </a:rPr>
              <a:t>MOOD FIRST SEARCH  •  ZERO TO ONE BY POCKET FM</a:t>
            </a:r>
          </a:p>
        </p:txBody>
      </p:sp>
      <p:sp>
        <p:nvSpPr>
          <p:cNvPr id="1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B3240C0-FCCF-4241-95A1-02400AF6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DCD5E6"/>
                </a:solidFill>
              </a:defRPr>
            </a:pPr>
            <a:r>
              <a:rPr sz="750" b="1" i="0">
                <a:solidFill>
                  <a:srgbClr val="DCD5E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28981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B2C36198-48B1-4BA0-9E43-2009FA0A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D28D9"/>
                </a:solidFill>
              </a:defRPr>
            </a:pPr>
            <a:r>
              <a:rPr sz="975" b="1" i="0">
                <a:solidFill>
                  <a:srgbClr val="6D28D9"/>
                </a:solidFill>
              </a:rPr>
              <a:t>THE SOLUTION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3F0414EF-3CAB-4A2A-A38C-116AB37E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41022"/>
                </a:solidFill>
              </a:defRPr>
            </a:pPr>
            <a:r>
              <a:rPr sz="2775" b="1" i="0">
                <a:solidFill>
                  <a:srgbClr val="141022"/>
                </a:solidFill>
              </a:rPr>
              <a:t>Search by feeling. Then explain the fit.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90D113-9281-48F9-BF28-4B61E99B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72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B657A"/>
                </a:solidFill>
              </a:defRPr>
            </a:pPr>
            <a:r>
              <a:rPr sz="900" b="1" i="0">
                <a:solidFill>
                  <a:srgbClr val="6B657A"/>
                </a:solidFill>
              </a:rPr>
              <a:t>04  /  12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B6091C3-7034-47A1-B1EA-B245A6DD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B2540"/>
                </a:solidFill>
              </a:defRPr>
            </a:pPr>
            <a:r>
              <a:rPr sz="1650" b="0" i="0">
                <a:solidFill>
                  <a:srgbClr val="2B2540"/>
                </a:solidFill>
              </a:rPr>
              <a:t>A simple interaction creates a distinctly personal discovery experience.</a:t>
            </a:r>
          </a:p>
        </p:txBody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4B7DD668-AF9E-4BC2-B511-356CBA99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0035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0">
            <a:extLst xmlns:a="http://schemas.openxmlformats.org/drawingml/2006/main">
              <a:ext uri="{FF2B5EF4-FFF2-40B4-BE49-F238E27FC236}">
                <a16:creationId xmlns:a16="http://schemas.microsoft.com/office/drawing/2014/main" id="{C400152A-F13A-42DA-9ACC-50B4C199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00025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step-0">
            <a:extLst xmlns:a="http://schemas.openxmlformats.org/drawingml/2006/main">
              <a:ext uri="{FF2B5EF4-FFF2-40B4-BE49-F238E27FC236}">
                <a16:creationId xmlns:a16="http://schemas.microsoft.com/office/drawing/2014/main" id="{17DADD75-6D10-4658-B554-40A7B958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9BE407C-EB68-40F6-A454-FD172CED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1022"/>
                </a:solidFill>
              </a:defRPr>
            </a:pPr>
            <a:r>
              <a:rPr sz="1350" b="1" i="0">
                <a:solidFill>
                  <a:srgbClr val="141022"/>
                </a:solidFill>
              </a:rPr>
              <a:t>Say the moment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BDFA811-66A8-400B-B015-663963FA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657A"/>
                </a:solidFill>
              </a:defRPr>
            </a:pPr>
            <a:r>
              <a:rPr sz="1050" b="0" i="0">
                <a:solidFill>
                  <a:srgbClr val="6B657A"/>
                </a:solidFill>
              </a:rPr>
              <a:t>“Rainy Sunday after heartbreak”</a:t>
            </a:r>
          </a:p>
        </p:txBody>
      </p:sp>
      <p:sp>
        <p:nvSpPr>
          <p:cNvPr id="10" name="arrow-1">
            <a:extLst xmlns:a="http://schemas.openxmlformats.org/drawingml/2006/main">
              <a:ext uri="{FF2B5EF4-FFF2-40B4-BE49-F238E27FC236}">
                <a16:creationId xmlns:a16="http://schemas.microsoft.com/office/drawing/2014/main" id="{CDB76770-A8DF-4683-B579-264EC396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0035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low-1">
            <a:extLst xmlns:a="http://schemas.openxmlformats.org/drawingml/2006/main">
              <a:ext uri="{FF2B5EF4-FFF2-40B4-BE49-F238E27FC236}">
                <a16:creationId xmlns:a16="http://schemas.microsoft.com/office/drawing/2014/main" id="{B40F72DA-9096-4E30-BF92-61658C97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0025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step-1">
            <a:extLst xmlns:a="http://schemas.openxmlformats.org/drawingml/2006/main">
              <a:ext uri="{FF2B5EF4-FFF2-40B4-BE49-F238E27FC236}">
                <a16:creationId xmlns:a16="http://schemas.microsoft.com/office/drawing/2014/main" id="{AC9CA941-6DC0-42B8-A9BF-6FEA5A1F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81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F26B0E8-76D7-4056-8B9F-2F365605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337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1022"/>
                </a:solidFill>
              </a:defRPr>
            </a:pPr>
            <a:r>
              <a:rPr sz="1350" b="1" i="0">
                <a:solidFill>
                  <a:srgbClr val="141022"/>
                </a:solidFill>
              </a:rPr>
              <a:t>Understand the mood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9AFD22B-FF7C-4C37-9EC2-38D9F722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861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657A"/>
                </a:solidFill>
              </a:defRPr>
            </a:pPr>
            <a:r>
              <a:rPr sz="1050" b="0" i="0">
                <a:solidFill>
                  <a:srgbClr val="6B657A"/>
                </a:solidFill>
              </a:rPr>
              <a:t>Atmosphere, themes, emotional arc</a:t>
            </a:r>
          </a:p>
        </p:txBody>
      </p:sp>
      <p:sp>
        <p:nvSpPr>
          <p:cNvPr id="15" name="arrow-2">
            <a:extLst xmlns:a="http://schemas.openxmlformats.org/drawingml/2006/main">
              <a:ext uri="{FF2B5EF4-FFF2-40B4-BE49-F238E27FC236}">
                <a16:creationId xmlns:a16="http://schemas.microsoft.com/office/drawing/2014/main" id="{526721C5-81DF-4BE3-9974-F38455AC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0035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2">
            <a:extLst xmlns:a="http://schemas.openxmlformats.org/drawingml/2006/main">
              <a:ext uri="{FF2B5EF4-FFF2-40B4-BE49-F238E27FC236}">
                <a16:creationId xmlns:a16="http://schemas.microsoft.com/office/drawing/2014/main" id="{E396722E-DAFC-4C9C-B02B-39BEE666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00025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step-2">
            <a:extLst xmlns:a="http://schemas.openxmlformats.org/drawingml/2006/main">
              <a:ext uri="{FF2B5EF4-FFF2-40B4-BE49-F238E27FC236}">
                <a16:creationId xmlns:a16="http://schemas.microsoft.com/office/drawing/2014/main" id="{C77EF303-4FA5-4291-9EBE-CB64C8BB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3A88063-AC4B-4DE2-A199-DC34CD2C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337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1022"/>
                </a:solidFill>
              </a:defRPr>
            </a:pPr>
            <a:r>
              <a:rPr sz="1350" b="1" i="0">
                <a:solidFill>
                  <a:srgbClr val="141022"/>
                </a:solidFill>
              </a:rPr>
              <a:t>Find the closest stories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6D28A6B-CA5D-4592-99B2-5AB95549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861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657A"/>
                </a:solidFill>
              </a:defRPr>
            </a:pPr>
            <a:r>
              <a:rPr sz="1050" b="0" i="0">
                <a:solidFill>
                  <a:srgbClr val="6B657A"/>
                </a:solidFill>
              </a:rPr>
              <a:t>Semantic retrieval + mood alignment</a:t>
            </a:r>
          </a:p>
        </p:txBody>
      </p:sp>
      <p:sp>
        <p:nvSpPr>
          <p:cNvPr id="20" name="flow-3">
            <a:extLst xmlns:a="http://schemas.openxmlformats.org/drawingml/2006/main">
              <a:ext uri="{FF2B5EF4-FFF2-40B4-BE49-F238E27FC236}">
                <a16:creationId xmlns:a16="http://schemas.microsoft.com/office/drawing/2014/main" id="{484115B5-31CD-45F7-9A4F-410C136B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200025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tep-3">
            <a:extLst xmlns:a="http://schemas.openxmlformats.org/drawingml/2006/main">
              <a:ext uri="{FF2B5EF4-FFF2-40B4-BE49-F238E27FC236}">
                <a16:creationId xmlns:a16="http://schemas.microsoft.com/office/drawing/2014/main" id="{C9E53EEF-7246-40B4-B603-4CD90C57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9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C2032C9-E04F-4CC6-BD09-65362DB5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337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1022"/>
                </a:solidFill>
              </a:defRPr>
            </a:pPr>
            <a:r>
              <a:rPr sz="1350" b="1" i="0">
                <a:solidFill>
                  <a:srgbClr val="141022"/>
                </a:solidFill>
              </a:rPr>
              <a:t>Make the choice feel obvious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0350026-B7B5-4C98-B48A-AEF4F199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861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657A"/>
                </a:solidFill>
              </a:defRPr>
            </a:pPr>
            <a:r>
              <a:rPr sz="1050" b="0" i="0">
                <a:solidFill>
                  <a:srgbClr val="6B657A"/>
                </a:solidFill>
              </a:rPr>
              <a:t>“Why I’ll love this” in human language</a:t>
            </a:r>
          </a:p>
        </p:txBody>
      </p:sp>
      <p:sp>
        <p:nvSpPr>
          <p:cNvPr id="24" name="why-love-surface">
            <a:extLst xmlns:a="http://schemas.openxmlformats.org/drawingml/2006/main">
              <a:ext uri="{FF2B5EF4-FFF2-40B4-BE49-F238E27FC236}">
                <a16:creationId xmlns:a16="http://schemas.microsoft.com/office/drawing/2014/main" id="{C9BACB25-A918-4D12-84DF-0C947C1F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97536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410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53073F2-B9C0-4224-B744-D06A261D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434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B703"/>
                </a:solidFill>
              </a:defRPr>
            </a:pPr>
            <a:r>
              <a:rPr sz="900" b="1" i="0">
                <a:solidFill>
                  <a:srgbClr val="FFB703"/>
                </a:solidFill>
              </a:rPr>
              <a:t>WHY I’LL LOVE THIS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B1DD221-E8F8-4F17-A8D3-1FE999D9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911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1">
                <a:solidFill>
                  <a:srgbClr val="FFFFFF"/>
                </a:solidFill>
              </a:defRPr>
            </a:pPr>
            <a:r>
              <a:rPr sz="1425" b="1" i="1">
                <a:solidFill>
                  <a:srgbClr val="FFFFFF"/>
                </a:solidFill>
              </a:rPr>
              <a:t>“The story mirrors your ache without leaving you there — intimate, wistful, and quietly hopeful.”</a:t>
            </a:r>
          </a:p>
        </p:txBody>
      </p:sp>
      <p:sp>
        <p:nvSpPr>
          <p:cNvPr id="2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E5D3046-48BE-44D2-BE17-9174E67F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DFEA"/>
            </a:solidFill>
            <a:prstDash val="solid"/>
          </a:ln>
        </p:spPr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6E4CD838-FC0C-4BCF-81C0-CBB7DAF8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97186"/>
                </a:solidFill>
              </a:defRPr>
            </a:pPr>
            <a:r>
              <a:rPr sz="750" b="1" i="0">
                <a:solidFill>
                  <a:srgbClr val="797186"/>
                </a:solidFill>
              </a:rPr>
              <a:t>MOOD FIRST SEARCH  •  ZERO TO ONE BY POCKET FM</a:t>
            </a:r>
          </a:p>
        </p:txBody>
      </p:sp>
      <p:sp>
        <p:nvSpPr>
          <p:cNvPr id="2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38CD17B-97CA-480E-AA98-2C1E88AC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97186"/>
                </a:solidFill>
              </a:defRPr>
            </a:pPr>
            <a:r>
              <a:rPr sz="750" b="1" i="0">
                <a:solidFill>
                  <a:srgbClr val="797186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242564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099C37C-A30D-49F7-A79E-38FC169C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B8D9"/>
                </a:solidFill>
              </a:defRPr>
            </a:pPr>
            <a:r>
              <a:rPr sz="975" b="1" i="0">
                <a:solidFill>
                  <a:srgbClr val="00B8D9"/>
                </a:solidFill>
              </a:rPr>
              <a:t>THE WEB APP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D42B93A1-55F0-4216-B31A-4C866D2C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41022"/>
                </a:solidFill>
              </a:defRPr>
            </a:pPr>
            <a:r>
              <a:rPr sz="2775" b="1" i="0">
                <a:solidFill>
                  <a:srgbClr val="141022"/>
                </a:solidFill>
              </a:rPr>
              <a:t>Three moments turn a mood into listening.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48746E6-54D1-455E-B369-3C15437E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72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B657A"/>
                </a:solidFill>
              </a:defRPr>
            </a:pPr>
            <a:r>
              <a:rPr sz="900" b="1" i="0">
                <a:solidFill>
                  <a:srgbClr val="6B657A"/>
                </a:solidFill>
              </a:rPr>
              <a:t>05  /  12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FB9747C-62F1-4CE4-9852-CCF5A051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B2540"/>
                </a:solidFill>
              </a:defRPr>
            </a:pPr>
            <a:r>
              <a:rPr sz="1650" b="0" i="0">
                <a:solidFill>
                  <a:srgbClr val="2B2540"/>
                </a:solidFill>
              </a:rPr>
              <a:t>Each feature removes friction from discovery while creating a richer signal for Pocket FM.</a:t>
            </a:r>
          </a:p>
        </p:txBody>
      </p:sp>
      <p:sp>
        <p:nvSpPr>
          <p:cNvPr id="5" name="feature-0">
            <a:extLst xmlns:a="http://schemas.openxmlformats.org/drawingml/2006/main">
              <a:ext uri="{FF2B5EF4-FFF2-40B4-BE49-F238E27FC236}">
                <a16:creationId xmlns:a16="http://schemas.microsoft.com/office/drawing/2014/main" id="{B3DDB98E-F0C9-496B-BB8B-55594076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C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feature-number-0">
            <a:extLst xmlns:a="http://schemas.openxmlformats.org/drawingml/2006/main">
              <a:ext uri="{FF2B5EF4-FFF2-40B4-BE49-F238E27FC236}">
                <a16:creationId xmlns:a16="http://schemas.microsoft.com/office/drawing/2014/main" id="{CF3F95E8-E086-43AE-94AD-313E6C0A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D10A5AA-B33D-48F1-89A6-9CF79058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1022"/>
                </a:solidFill>
              </a:defRPr>
            </a:pPr>
            <a:r>
              <a:rPr sz="1875" b="1" i="0">
                <a:solidFill>
                  <a:srgbClr val="141022"/>
                </a:solidFill>
              </a:rPr>
              <a:t>Speak the mood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1CEF153-2E52-4051-9C9D-56CF6F2C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48075"/>
            <a:ext cx="2647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B657A"/>
                </a:solidFill>
              </a:defRPr>
            </a:pPr>
            <a:r>
              <a:rPr sz="1275" b="0" i="0">
                <a:solidFill>
                  <a:srgbClr val="6B657A"/>
                </a:solidFill>
              </a:rPr>
              <a:t>Voice query is transcribed, then matched against 40,000+ story vectors.</a:t>
            </a:r>
          </a:p>
        </p:txBody>
      </p:sp>
      <p:sp>
        <p:nvSpPr>
          <p:cNvPr id="9" name="pill">
            <a:extLst xmlns:a="http://schemas.openxmlformats.org/drawingml/2006/main">
              <a:ext uri="{FF2B5EF4-FFF2-40B4-BE49-F238E27FC236}">
                <a16:creationId xmlns:a16="http://schemas.microsoft.com/office/drawing/2014/main" id="{F450789F-E2B4-485F-A9B9-94E681BD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2190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2540"/>
                </a:solidFill>
              </a:defRPr>
            </a:pPr>
            <a:r>
              <a:rPr sz="900" b="1">
                <a:solidFill>
                  <a:srgbClr val="2B2540"/>
                </a:solidFill>
              </a:rPr>
              <a:t>Voice input → recommendation</a:t>
            </a:r>
          </a:p>
        </p:txBody>
      </p:sp>
      <p:sp>
        <p:nvSpPr>
          <p:cNvPr id="10" name="feature-1">
            <a:extLst xmlns:a="http://schemas.openxmlformats.org/drawingml/2006/main">
              <a:ext uri="{FF2B5EF4-FFF2-40B4-BE49-F238E27FC236}">
                <a16:creationId xmlns:a16="http://schemas.microsoft.com/office/drawing/2014/main" id="{8D614D0D-6378-4D94-A4C1-42964270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3238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C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feature-number-1">
            <a:extLst xmlns:a="http://schemas.openxmlformats.org/drawingml/2006/main">
              <a:ext uri="{FF2B5EF4-FFF2-40B4-BE49-F238E27FC236}">
                <a16:creationId xmlns:a16="http://schemas.microsoft.com/office/drawing/2014/main" id="{53A87D7F-E6A9-4654-B536-B9423B3F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37F2F44-3291-4193-9AE6-C0931B07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0400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1022"/>
                </a:solidFill>
              </a:defRPr>
            </a:pPr>
            <a:r>
              <a:rPr sz="1875" b="1" i="0">
                <a:solidFill>
                  <a:srgbClr val="141022"/>
                </a:solidFill>
              </a:rPr>
              <a:t>Hear the premise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14E859F-CA59-4281-8114-9D5EEE15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48075"/>
            <a:ext cx="2647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B657A"/>
                </a:solidFill>
              </a:defRPr>
            </a:pPr>
            <a:r>
              <a:rPr sz="1275" b="0" i="0">
                <a:solidFill>
                  <a:srgbClr val="6B657A"/>
                </a:solidFill>
              </a:rPr>
              <a:t>Play a generated summary for a story, movie, or podcast before committing.</a:t>
            </a:r>
          </a:p>
        </p:txBody>
      </p:sp>
      <p:sp>
        <p:nvSpPr>
          <p:cNvPr id="14" name="pill">
            <a:extLst xmlns:a="http://schemas.openxmlformats.org/drawingml/2006/main">
              <a:ext uri="{FF2B5EF4-FFF2-40B4-BE49-F238E27FC236}">
                <a16:creationId xmlns:a16="http://schemas.microsoft.com/office/drawing/2014/main" id="{0A4D6522-950D-4B18-9155-8EBBC751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05300"/>
            <a:ext cx="2190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2540"/>
                </a:solidFill>
              </a:defRPr>
            </a:pPr>
            <a:r>
              <a:rPr sz="900" b="1">
                <a:solidFill>
                  <a:srgbClr val="2B2540"/>
                </a:solidFill>
              </a:rPr>
              <a:t>Summary playback</a:t>
            </a:r>
          </a:p>
        </p:txBody>
      </p:sp>
      <p:sp>
        <p:nvSpPr>
          <p:cNvPr id="15" name="feature-2">
            <a:extLst xmlns:a="http://schemas.openxmlformats.org/drawingml/2006/main">
              <a:ext uri="{FF2B5EF4-FFF2-40B4-BE49-F238E27FC236}">
                <a16:creationId xmlns:a16="http://schemas.microsoft.com/office/drawing/2014/main" id="{A6AFFFC5-545F-4A01-8FBC-2CF1C091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90750"/>
            <a:ext cx="3238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C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feature-number-2">
            <a:extLst xmlns:a="http://schemas.openxmlformats.org/drawingml/2006/main">
              <a:ext uri="{FF2B5EF4-FFF2-40B4-BE49-F238E27FC236}">
                <a16:creationId xmlns:a16="http://schemas.microsoft.com/office/drawing/2014/main" id="{6202B386-3E42-4473-961B-D6680373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9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5B22F43-F7DA-4BFD-B0D0-6BAEAB85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0400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1022"/>
                </a:solidFill>
              </a:defRPr>
            </a:pPr>
            <a:r>
              <a:rPr sz="1875" b="1" i="0">
                <a:solidFill>
                  <a:srgbClr val="141022"/>
                </a:solidFill>
              </a:rPr>
              <a:t>Improve the catalog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A64DDF7-4E52-4CF7-B89A-2E548FA8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48075"/>
            <a:ext cx="2647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B657A"/>
                </a:solidFill>
              </a:defRPr>
            </a:pPr>
            <a:r>
              <a:rPr sz="1275" b="0" i="0">
                <a:solidFill>
                  <a:srgbClr val="6B657A"/>
                </a:solidFill>
              </a:rPr>
              <a:t>Store far-away mood queries as evidence of the content people still want.</a:t>
            </a:r>
          </a:p>
        </p:txBody>
      </p:sp>
      <p:sp>
        <p:nvSpPr>
          <p:cNvPr id="19" name="pill">
            <a:extLst xmlns:a="http://schemas.openxmlformats.org/drawingml/2006/main">
              <a:ext uri="{FF2B5EF4-FFF2-40B4-BE49-F238E27FC236}">
                <a16:creationId xmlns:a16="http://schemas.microsoft.com/office/drawing/2014/main" id="{4A17092E-0931-422C-9F2A-BE3FA0DC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2190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2540"/>
                </a:solidFill>
              </a:defRPr>
            </a:pPr>
            <a:r>
              <a:rPr sz="900" b="1">
                <a:solidFill>
                  <a:srgbClr val="2B2540"/>
                </a:solidFill>
              </a:rPr>
              <a:t>Demand-gap memory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2B2DE18-D63A-4273-A8E2-CD051C38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B2540"/>
                </a:solidFill>
              </a:defRPr>
            </a:pPr>
            <a:r>
              <a:rPr sz="1575" b="1" i="0">
                <a:solidFill>
                  <a:srgbClr val="2B2540"/>
                </a:solidFill>
              </a:rPr>
              <a:t>Not a search box. A voice-first discovery concierge with a memory of unmet demand.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C51A6E1-6D9D-48A1-B075-BD009AD4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DFEA"/>
            </a:solidFill>
            <a:prstDash val="solid"/>
          </a:ln>
        </p:spPr>
      </p:sp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54DE1CB4-DF35-49CA-8A66-7EA9BA9E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97186"/>
                </a:solidFill>
              </a:defRPr>
            </a:pPr>
            <a:r>
              <a:rPr sz="750" b="1" i="0">
                <a:solidFill>
                  <a:srgbClr val="797186"/>
                </a:solidFill>
              </a:rPr>
              <a:t>MOOD FIRST SEARCH  •  ZERO TO ONE BY POCKET FM</a:t>
            </a:r>
          </a:p>
        </p:txBody>
      </p:sp>
      <p:sp>
        <p:nvSpPr>
          <p:cNvPr id="2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1218168-96FB-4C99-8AA0-B1847460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97186"/>
                </a:solidFill>
              </a:defRPr>
            </a:pPr>
            <a:r>
              <a:rPr sz="750" b="1" i="0">
                <a:solidFill>
                  <a:srgbClr val="797186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55790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C39AD73B-17C8-4C3D-9330-68079393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B703"/>
                </a:solidFill>
              </a:defRPr>
            </a:pPr>
            <a:r>
              <a:rPr sz="975" b="1" i="0">
                <a:solidFill>
                  <a:srgbClr val="FFB703"/>
                </a:solidFill>
              </a:rPr>
              <a:t>DATASET SCALE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04C6F31D-67D4-438A-A1ED-1F80418F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41022"/>
                </a:solidFill>
              </a:defRPr>
            </a:pPr>
            <a:r>
              <a:rPr sz="2775" b="1" i="0">
                <a:solidFill>
                  <a:srgbClr val="141022"/>
                </a:solidFill>
              </a:rPr>
              <a:t>From 4,000+ added titles to a 40k+ discovery index.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2E58E42-DE3D-4295-AD11-D02F2B83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72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B657A"/>
                </a:solidFill>
              </a:defRPr>
            </a:pPr>
            <a:r>
              <a:rPr sz="900" b="1" i="0">
                <a:solidFill>
                  <a:srgbClr val="6B657A"/>
                </a:solidFill>
              </a:rPr>
              <a:t>06  /  12</a:t>
            </a:r>
          </a:p>
        </p:txBody>
      </p:sp>
      <p:sp>
        <p:nvSpPr>
          <p:cNvPr id="4" name="dataset-metric">
            <a:extLst xmlns:a="http://schemas.openxmlformats.org/drawingml/2006/main">
              <a:ext uri="{FF2B5EF4-FFF2-40B4-BE49-F238E27FC236}">
                <a16:creationId xmlns:a16="http://schemas.microsoft.com/office/drawing/2014/main" id="{4ED3D157-9311-4C21-AEF0-7DEBA455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724150" cy="278130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1410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1413BF4-2068-409B-8814-1943E9D6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40,597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7672786-DB08-401A-9C6E-2095DD96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8DFF7"/>
                </a:solidFill>
              </a:defRPr>
            </a:pPr>
            <a:r>
              <a:rPr sz="1650" b="1" i="0">
                <a:solidFill>
                  <a:srgbClr val="E8DFF7"/>
                </a:solidFill>
              </a:rPr>
              <a:t>searchable records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D2B504A-C220-4701-9481-44A0755D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D7CAE9"/>
                </a:solidFill>
              </a:defRPr>
            </a:pPr>
            <a:r>
              <a:rPr sz="1200" b="0" i="0">
                <a:solidFill>
                  <a:srgbClr val="D7CAE9"/>
                </a:solidFill>
              </a:rPr>
              <a:t>3,072-dimensional semantic vectors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9691CF7-DA09-46A8-B2F0-8923A8CE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214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BFB1D3"/>
                </a:solidFill>
              </a:defRPr>
            </a:pPr>
            <a:r>
              <a:rPr sz="825" b="0" i="0">
                <a:solidFill>
                  <a:srgbClr val="BFB1D3"/>
                </a:solidFill>
              </a:rPr>
              <a:t>Local count from the supplied master dataset</a:t>
            </a:r>
          </a:p>
        </p:txBody>
      </p:sp>
      <p:sp>
        <p:nvSpPr>
          <p:cNvPr id="9" name="dataset-0">
            <a:extLst xmlns:a="http://schemas.openxmlformats.org/drawingml/2006/main">
              <a:ext uri="{FF2B5EF4-FFF2-40B4-BE49-F238E27FC236}">
                <a16:creationId xmlns:a16="http://schemas.microsoft.com/office/drawing/2014/main" id="{AD0F4B5A-8FE1-4CCF-8767-259824EC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81150"/>
            <a:ext cx="63246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DD754B46-D069-4740-952A-DEB165DF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02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C100DE4-5A28-4201-9F6B-0192DA7A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430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1022"/>
                </a:solidFill>
              </a:defRPr>
            </a:pPr>
            <a:r>
              <a:rPr sz="1500" b="1" i="0">
                <a:solidFill>
                  <a:srgbClr val="141022"/>
                </a:solidFill>
              </a:rPr>
              <a:t>CMU books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77B6888-06C5-40F6-B40C-CA4A7FEA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657A"/>
                </a:solidFill>
              </a:defRPr>
            </a:pPr>
            <a:r>
              <a:rPr sz="1200" b="0" i="0">
                <a:solidFill>
                  <a:srgbClr val="6B657A"/>
                </a:solidFill>
              </a:rPr>
              <a:t>Depth &amp; narrative breadth</a:t>
            </a:r>
          </a:p>
        </p:txBody>
      </p:sp>
      <p:sp>
        <p:nvSpPr>
          <p:cNvPr id="13" name="dataset-1">
            <a:extLst xmlns:a="http://schemas.openxmlformats.org/drawingml/2006/main">
              <a:ext uri="{FF2B5EF4-FFF2-40B4-BE49-F238E27FC236}">
                <a16:creationId xmlns:a16="http://schemas.microsoft.com/office/drawing/2014/main" id="{4F683AC1-B333-4469-A0A0-7A0FC93E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09850"/>
            <a:ext cx="63246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802952C7-9DCD-4BFB-AC4F-4371723B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289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D211702-4670-4459-ADDE-2A80D3FF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717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1022"/>
                </a:solidFill>
              </a:defRPr>
            </a:pPr>
            <a:r>
              <a:rPr sz="1500" b="1" i="0">
                <a:solidFill>
                  <a:srgbClr val="141022"/>
                </a:solidFill>
              </a:rPr>
              <a:t>Webtoons + web novels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C6C2CFA-A726-444F-9485-0D5C65EB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657A"/>
                </a:solidFill>
              </a:defRPr>
            </a:pPr>
            <a:r>
              <a:rPr sz="1200" b="0" i="0">
                <a:solidFill>
                  <a:srgbClr val="6B657A"/>
                </a:solidFill>
              </a:rPr>
              <a:t>Modern, high-drama tropes</a:t>
            </a:r>
          </a:p>
        </p:txBody>
      </p:sp>
      <p:sp>
        <p:nvSpPr>
          <p:cNvPr id="17" name="dataset-2">
            <a:extLst xmlns:a="http://schemas.openxmlformats.org/drawingml/2006/main">
              <a:ext uri="{FF2B5EF4-FFF2-40B4-BE49-F238E27FC236}">
                <a16:creationId xmlns:a16="http://schemas.microsoft.com/office/drawing/2014/main" id="{90CDDBD9-8EC7-4628-B4D2-E6AF8FA2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38550"/>
            <a:ext cx="63246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dot-2">
            <a:extLst xmlns:a="http://schemas.openxmlformats.org/drawingml/2006/main">
              <a:ext uri="{FF2B5EF4-FFF2-40B4-BE49-F238E27FC236}">
                <a16:creationId xmlns:a16="http://schemas.microsoft.com/office/drawing/2014/main" id="{8477F5EF-3B2C-4DCF-A9F9-B0AE364E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576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B290220-40D5-4FFE-A6E4-D3A1A8F8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004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1022"/>
                </a:solidFill>
              </a:defRPr>
            </a:pPr>
            <a:r>
              <a:rPr sz="1500" b="1" i="0">
                <a:solidFill>
                  <a:srgbClr val="141022"/>
                </a:solidFill>
              </a:rPr>
              <a:t>K-dramas + Netflix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E0C2C88-B74E-464E-8B80-88014A4B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657A"/>
                </a:solidFill>
              </a:defRPr>
            </a:pPr>
            <a:r>
              <a:rPr sz="1200" b="0" i="0">
                <a:solidFill>
                  <a:srgbClr val="6B657A"/>
                </a:solidFill>
              </a:rPr>
              <a:t>Cross-format emotional patterns</a:t>
            </a:r>
          </a:p>
        </p:txBody>
      </p:sp>
      <p:sp>
        <p:nvSpPr>
          <p:cNvPr id="21" name="added-catalog">
            <a:extLst xmlns:a="http://schemas.openxmlformats.org/drawingml/2006/main">
              <a:ext uri="{FF2B5EF4-FFF2-40B4-BE49-F238E27FC236}">
                <a16:creationId xmlns:a16="http://schemas.microsoft.com/office/drawing/2014/main" id="{DC9FE0D8-05E7-4C74-A38A-0F922AFD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27241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EAFE"/>
          </a:solidFill>
          <a:ln xmlns:a="http://schemas.openxmlformats.org/drawingml/2006/main" w="9525">
            <a:solidFill>
              <a:srgbClr val="D7BFFF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C8D20D5-2F3F-4FAA-B9EF-DDD782E5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6D28D9"/>
                </a:solidFill>
              </a:defRPr>
            </a:pPr>
            <a:r>
              <a:rPr sz="2175" b="1" i="0">
                <a:solidFill>
                  <a:srgbClr val="6D28D9"/>
                </a:solidFill>
              </a:rPr>
              <a:t>4,000+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33642FC-1C37-40C5-B13C-74B10600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B2540"/>
                </a:solidFill>
              </a:defRPr>
            </a:pPr>
            <a:r>
              <a:rPr sz="1050" b="1" i="0">
                <a:solidFill>
                  <a:srgbClr val="2B2540"/>
                </a:solidFill>
              </a:rPr>
              <a:t>stories, podcasts, movies &amp; audiobooks added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5BCF892-10FA-4169-8D33-6A32BCBF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9585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B2540"/>
                </a:solidFill>
              </a:defRPr>
            </a:pPr>
            <a:r>
              <a:rPr sz="1425" b="1" i="0">
                <a:solidFill>
                  <a:srgbClr val="2B2540"/>
                </a:solidFill>
              </a:rPr>
              <a:t>A diverse corpus lets mood search cross formats instead of narrowing users to a single shelf.</a:t>
            </a:r>
          </a:p>
        </p:txBody>
      </p:sp>
      <p:sp>
        <p:nvSpPr>
          <p:cNvPr id="2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25A8B8D-2C4C-4D2F-8199-E152E730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DFEA"/>
            </a:solidFill>
            <a:prstDash val="solid"/>
          </a:ln>
        </p:spPr>
      </p:sp>
      <p:sp>
        <p:nvSpPr>
          <p:cNvPr id="26" name="footer">
            <a:extLst xmlns:a="http://schemas.openxmlformats.org/drawingml/2006/main">
              <a:ext uri="{FF2B5EF4-FFF2-40B4-BE49-F238E27FC236}">
                <a16:creationId xmlns:a16="http://schemas.microsoft.com/office/drawing/2014/main" id="{874FBD9C-79D9-4FFE-93DC-EEDCA32B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97186"/>
                </a:solidFill>
              </a:defRPr>
            </a:pPr>
            <a:r>
              <a:rPr sz="750" b="1" i="0">
                <a:solidFill>
                  <a:srgbClr val="797186"/>
                </a:solidFill>
              </a:rPr>
              <a:t>MOOD FIRST SEARCH  •  ZERO TO ONE BY POCKET FM</a:t>
            </a:r>
          </a:p>
        </p:txBody>
      </p:sp>
      <p:sp>
        <p:nvSpPr>
          <p:cNvPr id="2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7656895-9337-4E7C-B439-73C2EBF0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97186"/>
                </a:solidFill>
              </a:defRPr>
            </a:pPr>
            <a:r>
              <a:rPr sz="750" b="1" i="0">
                <a:solidFill>
                  <a:srgbClr val="797186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763010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BEA4C50F-75A8-4C9B-94D6-C98B46BB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B703"/>
                </a:solidFill>
              </a:defRPr>
            </a:pPr>
            <a:r>
              <a:rPr sz="975" b="1" i="0">
                <a:solidFill>
                  <a:srgbClr val="FFB703"/>
                </a:solidFill>
              </a:rPr>
              <a:t>DATASET CREATION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F559C6F3-DBB2-4FD1-8E2B-D78D20E7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41022"/>
                </a:solidFill>
              </a:defRPr>
            </a:pPr>
            <a:r>
              <a:rPr sz="2775" b="1" i="0">
                <a:solidFill>
                  <a:srgbClr val="141022"/>
                </a:solidFill>
              </a:rPr>
              <a:t>We built a corpus that understands plot, context, and mood.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0A2F51-CD1D-4DEB-B1E7-08803B61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72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B657A"/>
                </a:solidFill>
              </a:defRPr>
            </a:pPr>
            <a:r>
              <a:rPr sz="900" b="1" i="0">
                <a:solidFill>
                  <a:srgbClr val="6B657A"/>
                </a:solidFill>
              </a:rPr>
              <a:t>07  /  12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4D0968E-C615-4664-9C9F-BEB7AC18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B2540"/>
                </a:solidFill>
              </a:defRPr>
            </a:pPr>
            <a:r>
              <a:rPr sz="1650" b="0" i="0">
                <a:solidFill>
                  <a:srgbClr val="2B2540"/>
                </a:solidFill>
              </a:rPr>
              <a:t>The dataset is the product foundation: discovery is only as rich as the story signals it can retrieve.</a:t>
            </a:r>
          </a:p>
        </p:txBody>
      </p:sp>
      <p:sp>
        <p:nvSpPr>
          <p:cNvPr id="5" name="dataset-arrow-0">
            <a:extLst xmlns:a="http://schemas.openxmlformats.org/drawingml/2006/main">
              <a:ext uri="{FF2B5EF4-FFF2-40B4-BE49-F238E27FC236}">
                <a16:creationId xmlns:a16="http://schemas.microsoft.com/office/drawing/2014/main" id="{9D81A52E-B5F2-4898-BAC6-624A2045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527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CD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ataset-arrow-1">
            <a:extLst xmlns:a="http://schemas.openxmlformats.org/drawingml/2006/main">
              <a:ext uri="{FF2B5EF4-FFF2-40B4-BE49-F238E27FC236}">
                <a16:creationId xmlns:a16="http://schemas.microsoft.com/office/drawing/2014/main" id="{47A795B1-7F36-4336-A717-AAC2A008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527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CD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ataset-arrow-2">
            <a:extLst xmlns:a="http://schemas.openxmlformats.org/drawingml/2006/main">
              <a:ext uri="{FF2B5EF4-FFF2-40B4-BE49-F238E27FC236}">
                <a16:creationId xmlns:a16="http://schemas.microsoft.com/office/drawing/2014/main" id="{4D421F54-2412-4ACF-A012-7D32AB7A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527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CD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ataset-arrow-3">
            <a:extLst xmlns:a="http://schemas.openxmlformats.org/drawingml/2006/main">
              <a:ext uri="{FF2B5EF4-FFF2-40B4-BE49-F238E27FC236}">
                <a16:creationId xmlns:a16="http://schemas.microsoft.com/office/drawing/2014/main" id="{31A121DC-56AC-4BD1-B6FB-BA45D4A4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527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CD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ataset-step-0">
            <a:extLst xmlns:a="http://schemas.openxmlformats.org/drawingml/2006/main">
              <a:ext uri="{FF2B5EF4-FFF2-40B4-BE49-F238E27FC236}">
                <a16:creationId xmlns:a16="http://schemas.microsoft.com/office/drawing/2014/main" id="{69F156A5-819D-433A-9D9E-3F9651AD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571625" cy="200025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dataset-step-dot-0">
            <a:extLst xmlns:a="http://schemas.openxmlformats.org/drawingml/2006/main">
              <a:ext uri="{FF2B5EF4-FFF2-40B4-BE49-F238E27FC236}">
                <a16:creationId xmlns:a16="http://schemas.microsoft.com/office/drawing/2014/main" id="{6DB14C56-ECD2-4565-9E8B-2BCE399F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1524AAC-E1C4-4005-924C-F1BA9D65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1022"/>
                </a:solidFill>
              </a:defRPr>
            </a:pPr>
            <a:r>
              <a:rPr sz="1500" b="1" i="0">
                <a:solidFill>
                  <a:srgbClr val="141022"/>
                </a:solidFill>
              </a:rPr>
              <a:t>Source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1CCB660-306F-47EC-9929-42D8938C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57575"/>
            <a:ext cx="1200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657A"/>
                </a:solidFill>
              </a:defRPr>
            </a:pPr>
            <a:r>
              <a:rPr sz="1050" b="0" i="0">
                <a:solidFill>
                  <a:srgbClr val="6B657A"/>
                </a:solidFill>
              </a:rPr>
              <a:t>Books, webtoons, web novels, K-dramas &amp; Netflix</a:t>
            </a:r>
          </a:p>
        </p:txBody>
      </p:sp>
      <p:sp>
        <p:nvSpPr>
          <p:cNvPr id="13" name="dataset-step-1">
            <a:extLst xmlns:a="http://schemas.openxmlformats.org/drawingml/2006/main">
              <a:ext uri="{FF2B5EF4-FFF2-40B4-BE49-F238E27FC236}">
                <a16:creationId xmlns:a16="http://schemas.microsoft.com/office/drawing/2014/main" id="{6CE74843-54AE-4705-AEF7-828FC8A1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62200"/>
            <a:ext cx="1571625" cy="200025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dataset-step-dot-1">
            <a:extLst xmlns:a="http://schemas.openxmlformats.org/drawingml/2006/main">
              <a:ext uri="{FF2B5EF4-FFF2-40B4-BE49-F238E27FC236}">
                <a16:creationId xmlns:a16="http://schemas.microsoft.com/office/drawing/2014/main" id="{7B122A78-18C6-4C41-A12A-27429F71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7D703BC-B309-4BC7-A93B-94C277C8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765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1022"/>
                </a:solidFill>
              </a:defRPr>
            </a:pPr>
            <a:r>
              <a:rPr sz="1500" b="1" i="0">
                <a:solidFill>
                  <a:srgbClr val="141022"/>
                </a:solidFill>
              </a:rPr>
              <a:t>Normalize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9BC885B-433E-43D8-BE7D-2FD5FB5E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57575"/>
            <a:ext cx="1200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657A"/>
                </a:solidFill>
              </a:defRPr>
            </a:pPr>
            <a:r>
              <a:rPr sz="1050" b="0" i="0">
                <a:solidFill>
                  <a:srgbClr val="6B657A"/>
                </a:solidFill>
              </a:rPr>
              <a:t>Titles, summaries, genres, cast &amp; metadata</a:t>
            </a:r>
          </a:p>
        </p:txBody>
      </p:sp>
      <p:sp>
        <p:nvSpPr>
          <p:cNvPr id="17" name="dataset-step-2">
            <a:extLst xmlns:a="http://schemas.openxmlformats.org/drawingml/2006/main">
              <a:ext uri="{FF2B5EF4-FFF2-40B4-BE49-F238E27FC236}">
                <a16:creationId xmlns:a16="http://schemas.microsoft.com/office/drawing/2014/main" id="{A0716076-C84B-44C3-84B6-63C92CF9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62200"/>
            <a:ext cx="1571625" cy="200025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dataset-step-dot-2">
            <a:extLst xmlns:a="http://schemas.openxmlformats.org/drawingml/2006/main">
              <a:ext uri="{FF2B5EF4-FFF2-40B4-BE49-F238E27FC236}">
                <a16:creationId xmlns:a16="http://schemas.microsoft.com/office/drawing/2014/main" id="{2ADA9BFA-90B0-4DE2-9D87-87F7FF09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96169BA-DAD3-44AC-B8C6-857295D2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765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1022"/>
                </a:solidFill>
              </a:defRPr>
            </a:pPr>
            <a:r>
              <a:rPr sz="1500" b="1" i="0">
                <a:solidFill>
                  <a:srgbClr val="141022"/>
                </a:solidFill>
              </a:rPr>
              <a:t>Deduplicate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F9F2F29-D10E-4B00-AD42-3BA9F0C9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57575"/>
            <a:ext cx="1200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657A"/>
                </a:solidFill>
              </a:defRPr>
            </a:pPr>
            <a:r>
              <a:rPr sz="1050" b="0" i="0">
                <a:solidFill>
                  <a:srgbClr val="6B657A"/>
                </a:solidFill>
              </a:rPr>
              <a:t>One canonical record per title</a:t>
            </a:r>
          </a:p>
        </p:txBody>
      </p:sp>
      <p:sp>
        <p:nvSpPr>
          <p:cNvPr id="21" name="dataset-step-3">
            <a:extLst xmlns:a="http://schemas.openxmlformats.org/drawingml/2006/main">
              <a:ext uri="{FF2B5EF4-FFF2-40B4-BE49-F238E27FC236}">
                <a16:creationId xmlns:a16="http://schemas.microsoft.com/office/drawing/2014/main" id="{2C5CDBD9-01D6-4A9E-BA68-03169BD9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1571625" cy="200025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dataset-step-dot-3">
            <a:extLst xmlns:a="http://schemas.openxmlformats.org/drawingml/2006/main">
              <a:ext uri="{FF2B5EF4-FFF2-40B4-BE49-F238E27FC236}">
                <a16:creationId xmlns:a16="http://schemas.microsoft.com/office/drawing/2014/main" id="{9A931CB8-72AE-4680-801B-BC058D41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00D5255-1773-4339-B17C-71DF216B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765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1022"/>
                </a:solidFill>
              </a:defRPr>
            </a:pPr>
            <a:r>
              <a:rPr sz="1500" b="1" i="0">
                <a:solidFill>
                  <a:srgbClr val="141022"/>
                </a:solidFill>
              </a:rPr>
              <a:t>Enrich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9CCC0B2-3F85-4C27-8516-B927F003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1200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657A"/>
                </a:solidFill>
              </a:defRPr>
            </a:pPr>
            <a:r>
              <a:rPr sz="1050" b="0" i="0">
                <a:solidFill>
                  <a:srgbClr val="6B657A"/>
                </a:solidFill>
              </a:rPr>
              <a:t>Atmosphere, keywords &amp; emotional scores</a:t>
            </a:r>
          </a:p>
        </p:txBody>
      </p:sp>
      <p:sp>
        <p:nvSpPr>
          <p:cNvPr id="25" name="dataset-step-4">
            <a:extLst xmlns:a="http://schemas.openxmlformats.org/drawingml/2006/main">
              <a:ext uri="{FF2B5EF4-FFF2-40B4-BE49-F238E27FC236}">
                <a16:creationId xmlns:a16="http://schemas.microsoft.com/office/drawing/2014/main" id="{41A36835-2D3C-466C-83B6-8FF3942F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62200"/>
            <a:ext cx="1571625" cy="200025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dataset-step-dot-4">
            <a:extLst xmlns:a="http://schemas.openxmlformats.org/drawingml/2006/main">
              <a:ext uri="{FF2B5EF4-FFF2-40B4-BE49-F238E27FC236}">
                <a16:creationId xmlns:a16="http://schemas.microsoft.com/office/drawing/2014/main" id="{2C59E289-E126-4346-97EA-E0BA1B57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C27A4F0-458C-4282-A5AA-836E81FF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765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1022"/>
                </a:solidFill>
              </a:defRPr>
            </a:pPr>
            <a:r>
              <a:rPr sz="1500" b="1" i="0">
                <a:solidFill>
                  <a:srgbClr val="141022"/>
                </a:solidFill>
              </a:rPr>
              <a:t>Embed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367FC79-5605-461F-8E04-A2F1C835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57575"/>
            <a:ext cx="1200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657A"/>
                </a:solidFill>
              </a:defRPr>
            </a:pPr>
            <a:r>
              <a:rPr sz="1050" b="0" i="0">
                <a:solidFill>
                  <a:srgbClr val="6B657A"/>
                </a:solidFill>
              </a:rPr>
              <a:t>3,072-dimensional vectors ready for search</a:t>
            </a:r>
          </a:p>
        </p:txBody>
      </p:sp>
      <p:sp>
        <p:nvSpPr>
          <p:cNvPr id="29" name="dataset-takeaway">
            <a:extLst xmlns:a="http://schemas.openxmlformats.org/drawingml/2006/main">
              <a:ext uri="{FF2B5EF4-FFF2-40B4-BE49-F238E27FC236}">
                <a16:creationId xmlns:a16="http://schemas.microsoft.com/office/drawing/2014/main" id="{7B6A6457-4F06-48C0-B124-DA583DE0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57275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410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FC611A10-13EE-48FC-9659-5F00D634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720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Every record is engineered to be found by a feeling — not just a title or genre.</a:t>
            </a:r>
          </a:p>
        </p:txBody>
      </p:sp>
      <p:sp>
        <p:nvSpPr>
          <p:cNvPr id="3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E13ABFE-C1AE-4892-865A-AB0BB7DD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25675"/>
            </a:solidFill>
            <a:prstDash val="solid"/>
          </a:ln>
        </p:spPr>
      </p:sp>
      <p:sp>
        <p:nvSpPr>
          <p:cNvPr id="32" name="footer">
            <a:extLst xmlns:a="http://schemas.openxmlformats.org/drawingml/2006/main">
              <a:ext uri="{FF2B5EF4-FFF2-40B4-BE49-F238E27FC236}">
                <a16:creationId xmlns:a16="http://schemas.microsoft.com/office/drawing/2014/main" id="{F286FDDC-F648-4576-823E-75689EFB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DCD5E6"/>
                </a:solidFill>
              </a:defRPr>
            </a:pPr>
            <a:r>
              <a:rPr sz="750" b="1" i="0">
                <a:solidFill>
                  <a:srgbClr val="DCD5E6"/>
                </a:solidFill>
              </a:rPr>
              <a:t>MOOD FIRST SEARCH  •  ZERO TO ONE BY POCKET FM</a:t>
            </a:r>
          </a:p>
        </p:txBody>
      </p:sp>
      <p:sp>
        <p:nvSpPr>
          <p:cNvPr id="3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CE4807B-B8C4-4A1B-B7BA-30BC843A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DCD5E6"/>
                </a:solidFill>
              </a:defRPr>
            </a:pPr>
            <a:r>
              <a:rPr sz="750" b="1" i="0">
                <a:solidFill>
                  <a:srgbClr val="DCD5E6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579001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">
            <a:extLst xmlns:a="http://schemas.openxmlformats.org/drawingml/2006/main">
              <a:ext uri="{FF2B5EF4-FFF2-40B4-BE49-F238E27FC236}">
                <a16:creationId xmlns:a16="http://schemas.microsoft.com/office/drawing/2014/main" id="{AAD1C2E3-5E4E-4A3C-8748-2E60B3C0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B8D9"/>
                </a:solidFill>
              </a:defRPr>
            </a:pPr>
            <a:r>
              <a:rPr sz="975" b="1" i="0">
                <a:solidFill>
                  <a:srgbClr val="00B8D9"/>
                </a:solidFill>
              </a:rPr>
              <a:t>BACKEND ENGINE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A274B8A4-501A-4EDE-B894-DBA937FC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41022"/>
                </a:solidFill>
              </a:defRPr>
            </a:pPr>
            <a:r>
              <a:rPr sz="2775" b="1" i="0">
                <a:solidFill>
                  <a:srgbClr val="141022"/>
                </a:solidFill>
              </a:rPr>
              <a:t>Fast enough for a live demo. Deep enough to feel personal.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1F09D3-B580-433C-9639-9DFEB626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72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B657A"/>
                </a:solidFill>
              </a:defRPr>
            </a:pPr>
            <a:r>
              <a:rPr sz="900" b="1" i="0">
                <a:solidFill>
                  <a:srgbClr val="6B657A"/>
                </a:solidFill>
              </a:rPr>
              <a:t>08  /  12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00753A0-2396-45D8-BD8E-EA26D865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B2540"/>
                </a:solidFill>
              </a:defRPr>
            </a:pPr>
            <a:r>
              <a:rPr sz="1650" b="0" i="0">
                <a:solidFill>
                  <a:srgbClr val="2B2540"/>
                </a:solidFill>
              </a:rPr>
              <a:t>Offline intelligence makes the runtime interaction lightweight and explainable.</a:t>
            </a:r>
          </a:p>
        </p:txBody>
      </p:sp>
      <p:sp>
        <p:nvSpPr>
          <p:cNvPr id="5" name="pipeline-arrow-0">
            <a:extLst xmlns:a="http://schemas.openxmlformats.org/drawingml/2006/main">
              <a:ext uri="{FF2B5EF4-FFF2-40B4-BE49-F238E27FC236}">
                <a16:creationId xmlns:a16="http://schemas.microsoft.com/office/drawing/2014/main" id="{28B11D4E-564E-4E8E-920B-D5822A57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480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ipeline-arrow-1">
            <a:extLst xmlns:a="http://schemas.openxmlformats.org/drawingml/2006/main">
              <a:ext uri="{FF2B5EF4-FFF2-40B4-BE49-F238E27FC236}">
                <a16:creationId xmlns:a16="http://schemas.microsoft.com/office/drawing/2014/main" id="{84ABD676-5829-45A3-A0DA-696DBA44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ipeline-arrow-2">
            <a:extLst xmlns:a="http://schemas.openxmlformats.org/drawingml/2006/main">
              <a:ext uri="{FF2B5EF4-FFF2-40B4-BE49-F238E27FC236}">
                <a16:creationId xmlns:a16="http://schemas.microsoft.com/office/drawing/2014/main" id="{D5137731-C59C-40C2-A074-21EB10A0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0480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ipeline-arrow-3">
            <a:extLst xmlns:a="http://schemas.openxmlformats.org/drawingml/2006/main">
              <a:ext uri="{FF2B5EF4-FFF2-40B4-BE49-F238E27FC236}">
                <a16:creationId xmlns:a16="http://schemas.microsoft.com/office/drawing/2014/main" id="{1A217FF5-FA5E-4BBF-8899-A7644ED6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0480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ipeline-0">
            <a:extLst xmlns:a="http://schemas.openxmlformats.org/drawingml/2006/main">
              <a:ext uri="{FF2B5EF4-FFF2-40B4-BE49-F238E27FC236}">
                <a16:creationId xmlns:a16="http://schemas.microsoft.com/office/drawing/2014/main" id="{64AC926D-B697-488D-A8B7-FD339029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619250" cy="17621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number-0">
            <a:extLst xmlns:a="http://schemas.openxmlformats.org/drawingml/2006/main">
              <a:ext uri="{FF2B5EF4-FFF2-40B4-BE49-F238E27FC236}">
                <a16:creationId xmlns:a16="http://schemas.microsoft.com/office/drawing/2014/main" id="{96267025-F18D-4BFE-ADCD-683CBB04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8127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D2DCCAD-2EF4-4BC2-888B-87E94C9B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1022"/>
                </a:solidFill>
              </a:defRPr>
            </a:pPr>
            <a:r>
              <a:rPr sz="1575" b="1" i="0">
                <a:solidFill>
                  <a:srgbClr val="141022"/>
                </a:solidFill>
              </a:rPr>
              <a:t>Extract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4BB5BC4-72E1-4ABD-8AC9-58D55B29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28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657A"/>
                </a:solidFill>
              </a:defRPr>
            </a:pPr>
            <a:r>
              <a:rPr sz="1050" b="0" i="0">
                <a:solidFill>
                  <a:srgbClr val="6B657A"/>
                </a:solidFill>
              </a:rPr>
              <a:t>Keywords + emotional features</a:t>
            </a:r>
          </a:p>
        </p:txBody>
      </p:sp>
      <p:sp>
        <p:nvSpPr>
          <p:cNvPr id="13" name="pipeline-1">
            <a:extLst xmlns:a="http://schemas.openxmlformats.org/drawingml/2006/main">
              <a:ext uri="{FF2B5EF4-FFF2-40B4-BE49-F238E27FC236}">
                <a16:creationId xmlns:a16="http://schemas.microsoft.com/office/drawing/2014/main" id="{180003E6-BBFD-405C-8ACE-C25561FA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619250" cy="17621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number-1">
            <a:extLst xmlns:a="http://schemas.openxmlformats.org/drawingml/2006/main">
              <a:ext uri="{FF2B5EF4-FFF2-40B4-BE49-F238E27FC236}">
                <a16:creationId xmlns:a16="http://schemas.microsoft.com/office/drawing/2014/main" id="{5CAA6C4B-91A5-4767-AAE8-ECA29C7F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8127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782F734-E7A1-46E9-A572-EFBF113C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956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1022"/>
                </a:solidFill>
              </a:defRPr>
            </a:pPr>
            <a:r>
              <a:rPr sz="1575" b="1" i="0">
                <a:solidFill>
                  <a:srgbClr val="141022"/>
                </a:solidFill>
              </a:rPr>
              <a:t>Embed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A2D22F7-3285-4406-8849-A3AF0B86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86150"/>
            <a:ext cx="128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657A"/>
                </a:solidFill>
              </a:defRPr>
            </a:pPr>
            <a:r>
              <a:rPr sz="1050" b="0" i="0">
                <a:solidFill>
                  <a:srgbClr val="6B657A"/>
                </a:solidFill>
              </a:rPr>
              <a:t>Search-ready semantic vector</a:t>
            </a:r>
          </a:p>
        </p:txBody>
      </p:sp>
      <p:sp>
        <p:nvSpPr>
          <p:cNvPr id="17" name="pipeline-2">
            <a:extLst xmlns:a="http://schemas.openxmlformats.org/drawingml/2006/main">
              <a:ext uri="{FF2B5EF4-FFF2-40B4-BE49-F238E27FC236}">
                <a16:creationId xmlns:a16="http://schemas.microsoft.com/office/drawing/2014/main" id="{93B8C924-0B90-4656-9F91-AD742C58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81250"/>
            <a:ext cx="1619250" cy="17621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number-2">
            <a:extLst xmlns:a="http://schemas.openxmlformats.org/drawingml/2006/main">
              <a:ext uri="{FF2B5EF4-FFF2-40B4-BE49-F238E27FC236}">
                <a16:creationId xmlns:a16="http://schemas.microsoft.com/office/drawing/2014/main" id="{799F19BC-B40E-421A-BE09-4D8D6BFB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8127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8474A0B-43BD-4E82-84CC-8AB4ECE5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956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1022"/>
                </a:solidFill>
              </a:defRPr>
            </a:pPr>
            <a:r>
              <a:rPr sz="1575" b="1" i="0">
                <a:solidFill>
                  <a:srgbClr val="141022"/>
                </a:solidFill>
              </a:rPr>
              <a:t>Retrieve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AED0F70-03DF-454A-9645-36B63D8C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86150"/>
            <a:ext cx="128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657A"/>
                </a:solidFill>
              </a:defRPr>
            </a:pPr>
            <a:r>
              <a:rPr sz="1050" b="0" i="0">
                <a:solidFill>
                  <a:srgbClr val="6B657A"/>
                </a:solidFill>
              </a:rPr>
              <a:t>Top-20 scale-ready gate</a:t>
            </a:r>
          </a:p>
        </p:txBody>
      </p:sp>
      <p:sp>
        <p:nvSpPr>
          <p:cNvPr id="21" name="pipeline-3">
            <a:extLst xmlns:a="http://schemas.openxmlformats.org/drawingml/2006/main">
              <a:ext uri="{FF2B5EF4-FFF2-40B4-BE49-F238E27FC236}">
                <a16:creationId xmlns:a16="http://schemas.microsoft.com/office/drawing/2014/main" id="{B92C6BD9-DC5D-4770-9C06-A99C7E13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1619250" cy="17621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number-3">
            <a:extLst xmlns:a="http://schemas.openxmlformats.org/drawingml/2006/main">
              <a:ext uri="{FF2B5EF4-FFF2-40B4-BE49-F238E27FC236}">
                <a16:creationId xmlns:a16="http://schemas.microsoft.com/office/drawing/2014/main" id="{F8FB9017-35EF-4648-AE86-8E74737C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8127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1B855F5-690A-4ADB-AD64-E5161691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956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1022"/>
                </a:solidFill>
              </a:defRPr>
            </a:pPr>
            <a:r>
              <a:rPr sz="1575" b="1" i="0">
                <a:solidFill>
                  <a:srgbClr val="141022"/>
                </a:solidFill>
              </a:rPr>
              <a:t>Refine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E69D29E-A493-4539-84AF-FBD0D673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86150"/>
            <a:ext cx="128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657A"/>
                </a:solidFill>
              </a:defRPr>
            </a:pPr>
            <a:r>
              <a:rPr sz="1050" b="0" i="0">
                <a:solidFill>
                  <a:srgbClr val="6B657A"/>
                </a:solidFill>
              </a:rPr>
              <a:t>Full-context candidate review</a:t>
            </a:r>
          </a:p>
        </p:txBody>
      </p:sp>
      <p:sp>
        <p:nvSpPr>
          <p:cNvPr id="25" name="pipeline-4">
            <a:extLst xmlns:a="http://schemas.openxmlformats.org/drawingml/2006/main">
              <a:ext uri="{FF2B5EF4-FFF2-40B4-BE49-F238E27FC236}">
                <a16:creationId xmlns:a16="http://schemas.microsoft.com/office/drawing/2014/main" id="{492CFE99-73DB-4444-B72D-25FA6F80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1619250" cy="17621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number-4">
            <a:extLst xmlns:a="http://schemas.openxmlformats.org/drawingml/2006/main">
              <a:ext uri="{FF2B5EF4-FFF2-40B4-BE49-F238E27FC236}">
                <a16:creationId xmlns:a16="http://schemas.microsoft.com/office/drawing/2014/main" id="{689F46FA-C9FB-4512-A956-D6E5DD82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8127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9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B208779-85A0-4BCC-B42F-991F4176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956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1022"/>
                </a:solidFill>
              </a:defRPr>
            </a:pPr>
            <a:r>
              <a:rPr sz="1575" b="1" i="0">
                <a:solidFill>
                  <a:srgbClr val="141022"/>
                </a:solidFill>
              </a:rPr>
              <a:t>Explain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4825BC3-AACE-4EF6-B52B-EC3BA522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86150"/>
            <a:ext cx="128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657A"/>
                </a:solidFill>
              </a:defRPr>
            </a:pPr>
            <a:r>
              <a:rPr sz="1050" b="0" i="0">
                <a:solidFill>
                  <a:srgbClr val="6B657A"/>
                </a:solidFill>
              </a:rPr>
              <a:t>A reason, not a raw score</a:t>
            </a:r>
          </a:p>
        </p:txBody>
      </p:sp>
      <p:sp>
        <p:nvSpPr>
          <p:cNvPr id="29" name="live-note">
            <a:extLst xmlns:a="http://schemas.openxmlformats.org/drawingml/2006/main">
              <a:ext uri="{FF2B5EF4-FFF2-40B4-BE49-F238E27FC236}">
                <a16:creationId xmlns:a16="http://schemas.microsoft.com/office/drawing/2014/main" id="{73735528-1EBE-47EC-A481-F4D770CA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98107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B5DCE5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129B452-4349-4203-B806-912D2C70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1666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B8D9"/>
                </a:solidFill>
              </a:defRPr>
            </a:pPr>
            <a:r>
              <a:rPr sz="900" b="1" i="0">
                <a:solidFill>
                  <a:srgbClr val="00B8D9"/>
                </a:solidFill>
              </a:rPr>
              <a:t>SHIPPED DEMO PATH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A40D0F9-437E-44A9-8E0B-D12DE25C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902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B2540"/>
                </a:solidFill>
              </a:defRPr>
            </a:pPr>
            <a:r>
              <a:rPr sz="1275" b="1" i="0">
                <a:solidFill>
                  <a:srgbClr val="2B2540"/>
                </a:solidFill>
              </a:rPr>
              <a:t>Current backend retrieves and reranks Top-5 candidates to protect live latency; Top-20 is the scale-ready candidate gate.</a:t>
            </a:r>
          </a:p>
        </p:txBody>
      </p:sp>
      <p:sp>
        <p:nvSpPr>
          <p:cNvPr id="3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1BF50CE-5018-449E-B9A7-F83D90D9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DFEA"/>
            </a:solidFill>
            <a:prstDash val="solid"/>
          </a:ln>
        </p:spPr>
      </p:sp>
      <p:sp>
        <p:nvSpPr>
          <p:cNvPr id="33" name="footer">
            <a:extLst xmlns:a="http://schemas.openxmlformats.org/drawingml/2006/main">
              <a:ext uri="{FF2B5EF4-FFF2-40B4-BE49-F238E27FC236}">
                <a16:creationId xmlns:a16="http://schemas.microsoft.com/office/drawing/2014/main" id="{2BB98269-5150-46D8-9D39-CB261826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97186"/>
                </a:solidFill>
              </a:defRPr>
            </a:pPr>
            <a:r>
              <a:rPr sz="750" b="1" i="0">
                <a:solidFill>
                  <a:srgbClr val="797186"/>
                </a:solidFill>
              </a:rPr>
              <a:t>MOOD FIRST SEARCH  •  ZERO TO ONE BY POCKET FM</a:t>
            </a:r>
          </a:p>
        </p:txBody>
      </p:sp>
      <p:sp>
        <p:nvSpPr>
          <p:cNvPr id="3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C2F9EBB-7B36-4797-9244-13EB9E25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97186"/>
                </a:solidFill>
              </a:defRPr>
            </a:pPr>
            <a:r>
              <a:rPr sz="750" b="1" i="0">
                <a:solidFill>
                  <a:srgbClr val="797186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343607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eyebrow">
            <a:extLst xmlns:a="http://schemas.openxmlformats.org/drawingml/2006/main">
              <a:ext uri="{FF2B5EF4-FFF2-40B4-BE49-F238E27FC236}">
                <a16:creationId xmlns:a16="http://schemas.microsoft.com/office/drawing/2014/main" id="{1C7EB9E4-60AC-4DA0-91FB-8F8EE539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D28D9"/>
                </a:solidFill>
              </a:defRPr>
            </a:pPr>
            <a:r>
              <a:rPr sz="975" b="1" i="0">
                <a:solidFill>
                  <a:srgbClr val="6D28D9"/>
                </a:solidFill>
              </a:rPr>
              <a:t>CONTENT DIMENSION MAPPING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6ADE20F5-36E7-4492-8B8C-A7346BFF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41022"/>
                </a:solidFill>
              </a:defRPr>
            </a:pPr>
            <a:r>
              <a:rPr sz="2775" b="1" i="0">
                <a:solidFill>
                  <a:srgbClr val="141022"/>
                </a:solidFill>
              </a:rPr>
              <a:t>Every format has a different emotional fingerprint.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C42BB74-97CF-4D3E-BF4A-2142B6D5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72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B657A"/>
                </a:solidFill>
              </a:defRPr>
            </a:pPr>
            <a:r>
              <a:rPr sz="900" b="1" i="0">
                <a:solidFill>
                  <a:srgbClr val="6B657A"/>
                </a:solidFill>
              </a:rPr>
              <a:t>09  /  12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6A1250D-38CD-4404-A529-74095F73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B2540"/>
                </a:solidFill>
              </a:defRPr>
            </a:pPr>
            <a:r>
              <a:rPr sz="1650" b="0" i="0">
                <a:solidFill>
                  <a:srgbClr val="2B2540"/>
                </a:solidFill>
              </a:rPr>
              <a:t>The same five mood dimensions create multiple doors into a unified discovery experience.</a:t>
            </a:r>
          </a:p>
        </p:txBody>
      </p:sp>
      <p:sp>
        <p:nvSpPr>
          <p:cNvPr id="5" name="radar-frame">
            <a:extLst xmlns:a="http://schemas.openxmlformats.org/drawingml/2006/main">
              <a:ext uri="{FF2B5EF4-FFF2-40B4-BE49-F238E27FC236}">
                <a16:creationId xmlns:a16="http://schemas.microsoft.com/office/drawing/2014/main" id="{F01DFA70-AAEA-491A-A960-CF64CC7B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71437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</p:sp>
      <p:sp>
        <p:nvSpPr>
          <p:cNvPr id="6" name="radar-ring-0">
            <a:extLst xmlns:a="http://schemas.openxmlformats.org/drawingml/2006/main">
              <a:ext uri="{FF2B5EF4-FFF2-40B4-BE49-F238E27FC236}">
                <a16:creationId xmlns:a16="http://schemas.microsoft.com/office/drawing/2014/main" id="{570221CC-5EA0-4A01-8692-AE0E76FB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4286250" y="3531394"/>
                </a:moveTo>
                <a:lnTo>
                  <a:pt x="4761838" y="3802885"/>
                </a:lnTo>
                <a:lnTo>
                  <a:pt x="4580179" y="4242168"/>
                </a:lnTo>
                <a:lnTo>
                  <a:pt x="3992321" y="4242168"/>
                </a:lnTo>
                <a:lnTo>
                  <a:pt x="3810662" y="38028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D0E1"/>
            </a:solidFill>
            <a:prstDash val="solid"/>
          </a:ln>
        </p:spPr>
      </p:sp>
      <p:sp>
        <p:nvSpPr>
          <p:cNvPr id="7" name="radar-ring-1">
            <a:extLst xmlns:a="http://schemas.openxmlformats.org/drawingml/2006/main">
              <a:ext uri="{FF2B5EF4-FFF2-40B4-BE49-F238E27FC236}">
                <a16:creationId xmlns:a16="http://schemas.microsoft.com/office/drawing/2014/main" id="{8C3B3E2A-2510-4890-B060-D4332919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4286250" y="3138488"/>
                </a:moveTo>
                <a:lnTo>
                  <a:pt x="5237425" y="3681471"/>
                </a:lnTo>
                <a:lnTo>
                  <a:pt x="4874109" y="4560036"/>
                </a:lnTo>
                <a:lnTo>
                  <a:pt x="3698391" y="4560036"/>
                </a:lnTo>
                <a:lnTo>
                  <a:pt x="3335075" y="36814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D0E1"/>
            </a:solidFill>
            <a:prstDash val="solid"/>
          </a:ln>
        </p:spPr>
      </p:sp>
      <p:sp>
        <p:nvSpPr>
          <p:cNvPr id="8" name="radar-ring-2">
            <a:extLst xmlns:a="http://schemas.openxmlformats.org/drawingml/2006/main">
              <a:ext uri="{FF2B5EF4-FFF2-40B4-BE49-F238E27FC236}">
                <a16:creationId xmlns:a16="http://schemas.microsoft.com/office/drawing/2014/main" id="{6A798DC4-0755-43BE-979D-DC742B4F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4286250" y="2745581"/>
                </a:moveTo>
                <a:lnTo>
                  <a:pt x="5713013" y="3560056"/>
                </a:lnTo>
                <a:lnTo>
                  <a:pt x="5168038" y="4877904"/>
                </a:lnTo>
                <a:lnTo>
                  <a:pt x="3404462" y="4877904"/>
                </a:lnTo>
                <a:lnTo>
                  <a:pt x="2859487" y="35600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D0E1"/>
            </a:solidFill>
            <a:prstDash val="solid"/>
          </a:ln>
        </p:spPr>
      </p:sp>
      <p:sp>
        <p:nvSpPr>
          <p:cNvPr id="9" name="radar-ring-3">
            <a:extLst xmlns:a="http://schemas.openxmlformats.org/drawingml/2006/main">
              <a:ext uri="{FF2B5EF4-FFF2-40B4-BE49-F238E27FC236}">
                <a16:creationId xmlns:a16="http://schemas.microsoft.com/office/drawing/2014/main" id="{197B97F7-6A94-44E8-BFF8-B013DB36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4286250" y="2352675"/>
                </a:moveTo>
                <a:lnTo>
                  <a:pt x="6188601" y="3438641"/>
                </a:lnTo>
                <a:lnTo>
                  <a:pt x="5461967" y="5195771"/>
                </a:lnTo>
                <a:lnTo>
                  <a:pt x="3110533" y="5195771"/>
                </a:lnTo>
                <a:lnTo>
                  <a:pt x="2383899" y="34386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B2540"/>
            </a:solidFill>
            <a:prstDash val="solid"/>
          </a:ln>
        </p:spPr>
      </p:sp>
      <p:sp>
        <p:nvSpPr>
          <p:cNvPr id="10" name="radar-spoke-0">
            <a:extLst xmlns:a="http://schemas.openxmlformats.org/drawingml/2006/main">
              <a:ext uri="{FF2B5EF4-FFF2-40B4-BE49-F238E27FC236}">
                <a16:creationId xmlns:a16="http://schemas.microsoft.com/office/drawing/2014/main" id="{9B0E82CC-E547-4930-9C67-23C96A5A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4286250" y="3924300"/>
                </a:moveTo>
                <a:lnTo>
                  <a:pt x="4286250" y="2352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5A9C5"/>
            </a:solidFill>
            <a:prstDash val="solid"/>
          </a:ln>
        </p:spPr>
      </p:sp>
      <p:sp>
        <p:nvSpPr>
          <p:cNvPr id="11" name="radar-spoke-1">
            <a:extLst xmlns:a="http://schemas.openxmlformats.org/drawingml/2006/main">
              <a:ext uri="{FF2B5EF4-FFF2-40B4-BE49-F238E27FC236}">
                <a16:creationId xmlns:a16="http://schemas.microsoft.com/office/drawing/2014/main" id="{D8E90674-7031-4B69-A0EC-C90DB965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4286250" y="3924300"/>
                </a:moveTo>
                <a:lnTo>
                  <a:pt x="6188601" y="3438641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5A9C5"/>
            </a:solidFill>
            <a:prstDash val="solid"/>
          </a:ln>
        </p:spPr>
      </p:sp>
      <p:sp>
        <p:nvSpPr>
          <p:cNvPr id="12" name="radar-spoke-2">
            <a:extLst xmlns:a="http://schemas.openxmlformats.org/drawingml/2006/main">
              <a:ext uri="{FF2B5EF4-FFF2-40B4-BE49-F238E27FC236}">
                <a16:creationId xmlns:a16="http://schemas.microsoft.com/office/drawing/2014/main" id="{55A33786-C35C-453E-9466-2D69F214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4286250" y="3924300"/>
                </a:moveTo>
                <a:lnTo>
                  <a:pt x="5461967" y="5195771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5A9C5"/>
            </a:solidFill>
            <a:prstDash val="solid"/>
          </a:ln>
        </p:spPr>
      </p:sp>
      <p:sp>
        <p:nvSpPr>
          <p:cNvPr id="13" name="radar-spoke-3">
            <a:extLst xmlns:a="http://schemas.openxmlformats.org/drawingml/2006/main">
              <a:ext uri="{FF2B5EF4-FFF2-40B4-BE49-F238E27FC236}">
                <a16:creationId xmlns:a16="http://schemas.microsoft.com/office/drawing/2014/main" id="{80C04A1C-A4BF-4D0C-99A3-EE08DD27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4286250" y="3924300"/>
                </a:moveTo>
                <a:lnTo>
                  <a:pt x="3110533" y="5195771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5A9C5"/>
            </a:solidFill>
            <a:prstDash val="solid"/>
          </a:ln>
        </p:spPr>
      </p:sp>
      <p:sp>
        <p:nvSpPr>
          <p:cNvPr id="14" name="radar-spoke-4">
            <a:extLst xmlns:a="http://schemas.openxmlformats.org/drawingml/2006/main">
              <a:ext uri="{FF2B5EF4-FFF2-40B4-BE49-F238E27FC236}">
                <a16:creationId xmlns:a16="http://schemas.microsoft.com/office/drawing/2014/main" id="{7143AB45-E940-4AE8-AED2-465161EA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4286250" y="3924300"/>
                </a:moveTo>
                <a:lnTo>
                  <a:pt x="2383899" y="3438641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5A9C5"/>
            </a:solidFill>
            <a:prstDash val="solid"/>
          </a:ln>
        </p:spPr>
      </p:sp>
      <p:sp>
        <p:nvSpPr>
          <p:cNvPr id="15" name="dramas-filled-profile">
            <a:extLst xmlns:a="http://schemas.openxmlformats.org/drawingml/2006/main">
              <a:ext uri="{FF2B5EF4-FFF2-40B4-BE49-F238E27FC236}">
                <a16:creationId xmlns:a16="http://schemas.microsoft.com/office/drawing/2014/main" id="{DAF342C8-D272-4966-8507-97A209A2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4286250" y="2839879"/>
                </a:moveTo>
                <a:lnTo>
                  <a:pt x="5484731" y="3618335"/>
                </a:lnTo>
                <a:lnTo>
                  <a:pt x="5168038" y="4877904"/>
                </a:lnTo>
                <a:lnTo>
                  <a:pt x="3627848" y="4636324"/>
                </a:lnTo>
                <a:lnTo>
                  <a:pt x="3297028" y="3671757"/>
                </a:lnTo>
                <a:close/>
              </a:path>
            </a:pathLst>
          </a:custGeom>
          <a:solidFill xmlns:a="http://schemas.openxmlformats.org/drawingml/2006/main">
            <a:srgbClr val="FFB703">
              <a:alpha val="30000"/>
            </a:srgbClr>
          </a:solidFill>
          <a:ln xmlns:a="http://schemas.openxmlformats.org/drawingml/2006/main" w="9525">
            <a:solidFill>
              <a:srgbClr val="FFB703"/>
            </a:solidFill>
            <a:prstDash val="solid"/>
          </a:ln>
        </p:spPr>
      </p:sp>
      <p:sp>
        <p:nvSpPr>
          <p:cNvPr id="16" name="books-profile">
            <a:extLst xmlns:a="http://schemas.openxmlformats.org/drawingml/2006/main">
              <a:ext uri="{FF2B5EF4-FFF2-40B4-BE49-F238E27FC236}">
                <a16:creationId xmlns:a16="http://schemas.microsoft.com/office/drawing/2014/main" id="{59E7E079-B226-494C-8039-C1B1F133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4286250" y="2918460"/>
                </a:moveTo>
                <a:lnTo>
                  <a:pt x="5180355" y="3696040"/>
                </a:lnTo>
                <a:lnTo>
                  <a:pt x="4909380" y="4598180"/>
                </a:lnTo>
                <a:lnTo>
                  <a:pt x="3651363" y="4610895"/>
                </a:lnTo>
                <a:lnTo>
                  <a:pt x="3030698" y="36037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sp>
        <p:nvSpPr>
          <p:cNvPr id="17" name="podcasts-profile">
            <a:extLst xmlns:a="http://schemas.openxmlformats.org/drawingml/2006/main">
              <a:ext uri="{FF2B5EF4-FFF2-40B4-BE49-F238E27FC236}">
                <a16:creationId xmlns:a16="http://schemas.microsoft.com/office/drawing/2014/main" id="{1AE19A69-BDF9-40CA-AD14-D71F9D7A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4286250" y="3421380"/>
                </a:moveTo>
                <a:lnTo>
                  <a:pt x="5522778" y="3608622"/>
                </a:lnTo>
                <a:lnTo>
                  <a:pt x="4615451" y="4280312"/>
                </a:lnTo>
                <a:lnTo>
                  <a:pt x="3486762" y="4788901"/>
                </a:lnTo>
                <a:lnTo>
                  <a:pt x="3506286" y="37251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8" name="movies-profile">
            <a:extLst xmlns:a="http://schemas.openxmlformats.org/drawingml/2006/main">
              <a:ext uri="{FF2B5EF4-FFF2-40B4-BE49-F238E27FC236}">
                <a16:creationId xmlns:a16="http://schemas.microsoft.com/office/drawing/2014/main" id="{62522B00-E7E8-44B3-B629-6A668BE4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4286250" y="2792730"/>
                </a:moveTo>
                <a:lnTo>
                  <a:pt x="5313519" y="3662044"/>
                </a:lnTo>
                <a:lnTo>
                  <a:pt x="4803566" y="4483747"/>
                </a:lnTo>
                <a:lnTo>
                  <a:pt x="3698391" y="4560036"/>
                </a:lnTo>
                <a:lnTo>
                  <a:pt x="3144840" y="36329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F5A5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C952803-4DC6-4A89-9A9C-0E85DB44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955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2B2540"/>
                </a:solidFill>
              </a:defRPr>
            </a:pPr>
            <a:r>
              <a:rPr sz="975" b="0" i="0">
                <a:solidFill>
                  <a:srgbClr val="2B2540"/>
                </a:solidFill>
              </a:rPr>
              <a:t>Tension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3523B9E-208A-40CA-9269-477B62F0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B2540"/>
                </a:solidFill>
              </a:defRPr>
            </a:pPr>
            <a:r>
              <a:rPr sz="975" b="0" i="0">
                <a:solidFill>
                  <a:srgbClr val="2B2540"/>
                </a:solidFill>
              </a:rPr>
              <a:t>Warmth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4BC9D04-7760-4FE1-8160-FACF8F2C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4102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B2540"/>
                </a:solidFill>
              </a:defRPr>
            </a:pPr>
            <a:r>
              <a:rPr sz="975" b="0" i="0">
                <a:solidFill>
                  <a:srgbClr val="2B2540"/>
                </a:solidFill>
              </a:rPr>
              <a:t>Romance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8DFEC0B-E050-476B-933B-6764A19F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102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2B2540"/>
                </a:solidFill>
              </a:defRPr>
            </a:pPr>
            <a:r>
              <a:rPr sz="975" b="0" i="0">
                <a:solidFill>
                  <a:srgbClr val="2B2540"/>
                </a:solidFill>
              </a:rPr>
              <a:t>Hope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765AE34-379B-4184-B8A1-567C5C3F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86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2B2540"/>
                </a:solidFill>
              </a:defRPr>
            </a:pPr>
            <a:r>
              <a:rPr sz="975" b="0" i="0">
                <a:solidFill>
                  <a:srgbClr val="2B2540"/>
                </a:solidFill>
              </a:rPr>
              <a:t>Mystery</a:t>
            </a:r>
          </a:p>
        </p:txBody>
      </p:sp>
      <p:sp>
        <p:nvSpPr>
          <p:cNvPr id="24" name="legend-dot-0">
            <a:extLst xmlns:a="http://schemas.openxmlformats.org/drawingml/2006/main">
              <a:ext uri="{FF2B5EF4-FFF2-40B4-BE49-F238E27FC236}">
                <a16:creationId xmlns:a16="http://schemas.microsoft.com/office/drawing/2014/main" id="{965EDCCA-2A42-4EFB-A539-DF2FF12D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208F541-C43F-4E1E-9A67-28E81E7A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781675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B2540"/>
                </a:solidFill>
              </a:defRPr>
            </a:pPr>
            <a:r>
              <a:rPr sz="1050" b="0" i="0">
                <a:solidFill>
                  <a:srgbClr val="2B2540"/>
                </a:solidFill>
              </a:rPr>
              <a:t>Books</a:t>
            </a:r>
          </a:p>
        </p:txBody>
      </p:sp>
      <p:sp>
        <p:nvSpPr>
          <p:cNvPr id="26" name="legend-dot-1">
            <a:extLst xmlns:a="http://schemas.openxmlformats.org/drawingml/2006/main">
              <a:ext uri="{FF2B5EF4-FFF2-40B4-BE49-F238E27FC236}">
                <a16:creationId xmlns:a16="http://schemas.microsoft.com/office/drawing/2014/main" id="{6BC1D219-7733-4171-9C93-6A9F8953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8102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554929F-078F-4C53-B8B2-C0096B36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81675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B2540"/>
                </a:solidFill>
              </a:defRPr>
            </a:pPr>
            <a:r>
              <a:rPr sz="1050" b="0" i="0">
                <a:solidFill>
                  <a:srgbClr val="2B2540"/>
                </a:solidFill>
              </a:rPr>
              <a:t>Podcasts</a:t>
            </a:r>
          </a:p>
        </p:txBody>
      </p:sp>
      <p:sp>
        <p:nvSpPr>
          <p:cNvPr id="28" name="legend-dot-2">
            <a:extLst xmlns:a="http://schemas.openxmlformats.org/drawingml/2006/main">
              <a:ext uri="{FF2B5EF4-FFF2-40B4-BE49-F238E27FC236}">
                <a16:creationId xmlns:a16="http://schemas.microsoft.com/office/drawing/2014/main" id="{6410B92F-FCFC-4ADE-828C-F2480479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102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D86C409-8791-4F51-91F5-60C5BF76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81675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B2540"/>
                </a:solidFill>
              </a:defRPr>
            </a:pPr>
            <a:r>
              <a:rPr sz="1050" b="0" i="0">
                <a:solidFill>
                  <a:srgbClr val="2B2540"/>
                </a:solidFill>
              </a:rPr>
              <a:t>Movies</a:t>
            </a:r>
          </a:p>
        </p:txBody>
      </p:sp>
      <p:sp>
        <p:nvSpPr>
          <p:cNvPr id="30" name="legend-dot-3">
            <a:extLst xmlns:a="http://schemas.openxmlformats.org/drawingml/2006/main">
              <a:ext uri="{FF2B5EF4-FFF2-40B4-BE49-F238E27FC236}">
                <a16:creationId xmlns:a16="http://schemas.microsoft.com/office/drawing/2014/main" id="{B4AC25B5-3EE6-4453-BC97-E92B3FB6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8102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72772A32-3A44-46AD-AABC-2131876A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781675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B2540"/>
                </a:solidFill>
              </a:defRPr>
            </a:pPr>
            <a:r>
              <a:rPr sz="1050" b="0" i="0">
                <a:solidFill>
                  <a:srgbClr val="2B2540"/>
                </a:solidFill>
              </a:rPr>
              <a:t>Dramas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904B8707-98BA-4CD6-94CB-D8933A8E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1022"/>
                </a:solidFill>
              </a:defRPr>
            </a:pPr>
            <a:r>
              <a:rPr sz="1875" b="1" i="0">
                <a:solidFill>
                  <a:srgbClr val="141022"/>
                </a:solidFill>
              </a:rPr>
              <a:t>Why these five?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6C7DD13-7D19-4B70-8A53-B7AA12A4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B2540"/>
                </a:solidFill>
              </a:defRPr>
            </a:pPr>
            <a:r>
              <a:rPr sz="1350" b="0" i="0">
                <a:solidFill>
                  <a:srgbClr val="2B2540"/>
                </a:solidFill>
              </a:rPr>
              <a:t>Five expressive axes cover the dominant discovery intents — and remain clear to users and creators.</a:t>
            </a:r>
          </a:p>
        </p:txBody>
      </p:sp>
      <p:sp>
        <p:nvSpPr>
          <p:cNvPr id="34" name="pill">
            <a:extLst xmlns:a="http://schemas.openxmlformats.org/drawingml/2006/main">
              <a:ext uri="{FF2B5EF4-FFF2-40B4-BE49-F238E27FC236}">
                <a16:creationId xmlns:a16="http://schemas.microsoft.com/office/drawing/2014/main" id="{7F883F66-6F46-47DA-A480-A0CB0F27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57625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Tension</a:t>
            </a:r>
          </a:p>
        </p:txBody>
      </p:sp>
      <p:sp>
        <p:nvSpPr>
          <p:cNvPr id="35" name="pill">
            <a:extLst xmlns:a="http://schemas.openxmlformats.org/drawingml/2006/main">
              <a:ext uri="{FF2B5EF4-FFF2-40B4-BE49-F238E27FC236}">
                <a16:creationId xmlns:a16="http://schemas.microsoft.com/office/drawing/2014/main" id="{81B53546-F7D7-47DF-B389-D0A30685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857625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Warmth</a:t>
            </a:r>
          </a:p>
        </p:txBody>
      </p:sp>
      <p:sp>
        <p:nvSpPr>
          <p:cNvPr id="36" name="pill">
            <a:extLst xmlns:a="http://schemas.openxmlformats.org/drawingml/2006/main">
              <a:ext uri="{FF2B5EF4-FFF2-40B4-BE49-F238E27FC236}">
                <a16:creationId xmlns:a16="http://schemas.microsoft.com/office/drawing/2014/main" id="{4E3C1930-6200-4409-91EC-51A7B3AD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70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Romance</a:t>
            </a:r>
          </a:p>
        </p:txBody>
      </p:sp>
      <p:sp>
        <p:nvSpPr>
          <p:cNvPr id="37" name="pill">
            <a:extLst xmlns:a="http://schemas.openxmlformats.org/drawingml/2006/main">
              <a:ext uri="{FF2B5EF4-FFF2-40B4-BE49-F238E27FC236}">
                <a16:creationId xmlns:a16="http://schemas.microsoft.com/office/drawing/2014/main" id="{2F5C7CA6-5919-4A87-BDF0-E51696B2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276725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A9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Hope</a:t>
            </a:r>
          </a:p>
        </p:txBody>
      </p:sp>
      <p:sp>
        <p:nvSpPr>
          <p:cNvPr id="38" name="pill">
            <a:extLst xmlns:a="http://schemas.openxmlformats.org/drawingml/2006/main">
              <a:ext uri="{FF2B5EF4-FFF2-40B4-BE49-F238E27FC236}">
                <a16:creationId xmlns:a16="http://schemas.microsoft.com/office/drawing/2014/main" id="{30664D86-7330-496A-A2F4-CAD85299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95825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Mystery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93AA2FD3-F670-4CE8-AF87-DCD24A6A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244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6B657A"/>
                </a:solidFill>
              </a:defRPr>
            </a:pPr>
            <a:r>
              <a:rPr sz="975" b="0" i="1">
                <a:solidFill>
                  <a:srgbClr val="6B657A"/>
                </a:solidFill>
              </a:rPr>
              <a:t>Illustrative, editable prototype benchmarks on a 0–1 scale.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1AD6F8D-C26C-4DED-8CB4-3F593712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DFEA"/>
            </a:solidFill>
            <a:prstDash val="solid"/>
          </a:ln>
        </p:spPr>
      </p:sp>
      <p:sp>
        <p:nvSpPr>
          <p:cNvPr id="41" name="footer">
            <a:extLst xmlns:a="http://schemas.openxmlformats.org/drawingml/2006/main">
              <a:ext uri="{FF2B5EF4-FFF2-40B4-BE49-F238E27FC236}">
                <a16:creationId xmlns:a16="http://schemas.microsoft.com/office/drawing/2014/main" id="{9BDF7C88-EB7B-4347-8F7E-AE44CA62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97186"/>
                </a:solidFill>
              </a:defRPr>
            </a:pPr>
            <a:r>
              <a:rPr sz="750" b="1" i="0">
                <a:solidFill>
                  <a:srgbClr val="797186"/>
                </a:solidFill>
              </a:rPr>
              <a:t>MOOD FIRST SEARCH  •  ZERO TO ONE BY POCKET FM</a:t>
            </a:r>
          </a:p>
        </p:txBody>
      </p:sp>
      <p:sp>
        <p:nvSpPr>
          <p:cNvPr id="4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A8432-BF06-458E-A9E9-40CF9965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97186"/>
                </a:solidFill>
              </a:defRPr>
            </a:pPr>
            <a:r>
              <a:rPr sz="750" b="1" i="0">
                <a:solidFill>
                  <a:srgbClr val="797186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854236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435FE1F0-1081-493B-AA19-752B1D5E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5A5F"/>
                </a:solidFill>
              </a:defRPr>
            </a:pPr>
            <a:r>
              <a:rPr sz="975" b="1" i="0">
                <a:solidFill>
                  <a:srgbClr val="FF5A5F"/>
                </a:solidFill>
              </a:rPr>
              <a:t>DEMAND SIGNALING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099CC123-8BDC-4694-8CAF-CD37DB3F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41022"/>
                </a:solidFill>
              </a:defRPr>
            </a:pPr>
            <a:r>
              <a:rPr sz="2775" b="1" i="0">
                <a:solidFill>
                  <a:srgbClr val="141022"/>
                </a:solidFill>
              </a:rPr>
              <a:t>When search cannot match, it can still create value.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695212D-A21C-4AE4-830A-17362A23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72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B657A"/>
                </a:solidFill>
              </a:defRPr>
            </a:pPr>
            <a:r>
              <a:rPr sz="900" b="1" i="0">
                <a:solidFill>
                  <a:srgbClr val="6B657A"/>
                </a:solidFill>
              </a:rPr>
              <a:t>10  /  12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058DF97-EFD2-49B9-99F8-C05CEEA3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B2540"/>
                </a:solidFill>
              </a:defRPr>
            </a:pPr>
            <a:r>
              <a:rPr sz="1650" b="0" i="0">
                <a:solidFill>
                  <a:srgbClr val="2B2540"/>
                </a:solidFill>
              </a:rPr>
              <a:t>A distant query is not a dead end. It is a product and content signal.</a:t>
            </a:r>
          </a:p>
        </p:txBody>
      </p:sp>
      <p:sp>
        <p:nvSpPr>
          <p:cNvPr id="5" name="demand-arrow-1">
            <a:extLst xmlns:a="http://schemas.openxmlformats.org/drawingml/2006/main">
              <a:ext uri="{FF2B5EF4-FFF2-40B4-BE49-F238E27FC236}">
                <a16:creationId xmlns:a16="http://schemas.microsoft.com/office/drawing/2014/main" id="{E4ABA58F-2756-4362-83EB-002A33BE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943225"/>
            <a:ext cx="762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C6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mand-arrow-2">
            <a:extLst xmlns:a="http://schemas.openxmlformats.org/drawingml/2006/main">
              <a:ext uri="{FF2B5EF4-FFF2-40B4-BE49-F238E27FC236}">
                <a16:creationId xmlns:a16="http://schemas.microsoft.com/office/drawing/2014/main" id="{CAE7285B-09CF-4FC4-BFF6-E8409D74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43225"/>
            <a:ext cx="762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C6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mand-arrow-3">
            <a:extLst xmlns:a="http://schemas.openxmlformats.org/drawingml/2006/main">
              <a:ext uri="{FF2B5EF4-FFF2-40B4-BE49-F238E27FC236}">
                <a16:creationId xmlns:a16="http://schemas.microsoft.com/office/drawing/2014/main" id="{E305DB02-5121-4F9F-AC7C-773BE40C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943225"/>
            <a:ext cx="762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C6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and-0">
            <a:extLst xmlns:a="http://schemas.openxmlformats.org/drawingml/2006/main">
              <a:ext uri="{FF2B5EF4-FFF2-40B4-BE49-F238E27FC236}">
                <a16:creationId xmlns:a16="http://schemas.microsoft.com/office/drawing/2014/main" id="{0274A02B-B0D9-4AF5-914A-0FBFB907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230505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demand-dot-0">
            <a:extLst xmlns:a="http://schemas.openxmlformats.org/drawingml/2006/main">
              <a:ext uri="{FF2B5EF4-FFF2-40B4-BE49-F238E27FC236}">
                <a16:creationId xmlns:a16="http://schemas.microsoft.com/office/drawing/2014/main" id="{430309BA-EE65-4D4C-BE2E-3C1EB33E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0DA6386-CE6F-4D8D-ACD0-9AA485C9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1022"/>
                </a:solidFill>
              </a:defRPr>
            </a:pPr>
            <a:r>
              <a:rPr sz="1575" b="1" i="0">
                <a:solidFill>
                  <a:srgbClr val="141022"/>
                </a:solidFill>
              </a:rPr>
              <a:t>Mood query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1B6A8EC-428D-4F71-9672-796B2D3C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657A"/>
                </a:solidFill>
              </a:defRPr>
            </a:pPr>
            <a:r>
              <a:rPr sz="1125" b="0" i="0">
                <a:solidFill>
                  <a:srgbClr val="6B657A"/>
                </a:solidFill>
              </a:rPr>
              <a:t>“A hopeful Hindi cozy mystery after a career setback”</a:t>
            </a:r>
          </a:p>
        </p:txBody>
      </p:sp>
      <p:sp>
        <p:nvSpPr>
          <p:cNvPr id="12" name="demand-1">
            <a:extLst xmlns:a="http://schemas.openxmlformats.org/drawingml/2006/main">
              <a:ext uri="{FF2B5EF4-FFF2-40B4-BE49-F238E27FC236}">
                <a16:creationId xmlns:a16="http://schemas.microsoft.com/office/drawing/2014/main" id="{EBB60A69-CB3D-47D4-8989-851EBE1C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33625"/>
            <a:ext cx="230505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demand-dot-1">
            <a:extLst xmlns:a="http://schemas.openxmlformats.org/drawingml/2006/main">
              <a:ext uri="{FF2B5EF4-FFF2-40B4-BE49-F238E27FC236}">
                <a16:creationId xmlns:a16="http://schemas.microsoft.com/office/drawing/2014/main" id="{ED3861BF-1B6F-4763-AE7F-D8CE259B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52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1E3CA36-FEEA-43CE-98CB-21F292D6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95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1022"/>
                </a:solidFill>
              </a:defRPr>
            </a:pPr>
            <a:r>
              <a:rPr sz="1575" b="1" i="0">
                <a:solidFill>
                  <a:srgbClr val="141022"/>
                </a:solidFill>
              </a:rPr>
              <a:t>Distance check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0C13443-59BB-428F-8565-D38201C5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95675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657A"/>
                </a:solidFill>
              </a:defRPr>
            </a:pPr>
            <a:r>
              <a:rPr sz="1125" b="0" i="0">
                <a:solidFill>
                  <a:srgbClr val="6B657A"/>
                </a:solidFill>
              </a:rPr>
              <a:t>Is this vector outside the current catalog neighborhood?</a:t>
            </a:r>
          </a:p>
        </p:txBody>
      </p:sp>
      <p:sp>
        <p:nvSpPr>
          <p:cNvPr id="16" name="demand-2">
            <a:extLst xmlns:a="http://schemas.openxmlformats.org/drawingml/2006/main">
              <a:ext uri="{FF2B5EF4-FFF2-40B4-BE49-F238E27FC236}">
                <a16:creationId xmlns:a16="http://schemas.microsoft.com/office/drawing/2014/main" id="{89928A8F-06DC-445D-9129-4914DDB7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33625"/>
            <a:ext cx="230505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demand-dot-2">
            <a:extLst xmlns:a="http://schemas.openxmlformats.org/drawingml/2006/main">
              <a:ext uri="{FF2B5EF4-FFF2-40B4-BE49-F238E27FC236}">
                <a16:creationId xmlns:a16="http://schemas.microsoft.com/office/drawing/2014/main" id="{7061BFEC-AB56-4684-97C7-BDF1645E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52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CCE185F-B4E9-4C5A-A298-ECA0687D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1022"/>
                </a:solidFill>
              </a:defRPr>
            </a:pPr>
            <a:r>
              <a:rPr sz="1575" b="1" i="0">
                <a:solidFill>
                  <a:srgbClr val="141022"/>
                </a:solidFill>
              </a:rPr>
              <a:t>Store the gap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50D13B6-D4DA-47D6-AD70-98CD938F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95675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657A"/>
                </a:solidFill>
              </a:defRPr>
            </a:pPr>
            <a:r>
              <a:rPr sz="1125" b="0" i="0">
                <a:solidFill>
                  <a:srgbClr val="6B657A"/>
                </a:solidFill>
              </a:rPr>
              <a:t>Log the unmet emotional, thematic, and language intent.</a:t>
            </a:r>
          </a:p>
        </p:txBody>
      </p:sp>
      <p:sp>
        <p:nvSpPr>
          <p:cNvPr id="20" name="demand-3">
            <a:extLst xmlns:a="http://schemas.openxmlformats.org/drawingml/2006/main">
              <a:ext uri="{FF2B5EF4-FFF2-40B4-BE49-F238E27FC236}">
                <a16:creationId xmlns:a16="http://schemas.microsoft.com/office/drawing/2014/main" id="{80394DB4-4777-42AD-A2FD-88A45EE4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33625"/>
            <a:ext cx="230505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demand-dot-3">
            <a:extLst xmlns:a="http://schemas.openxmlformats.org/drawingml/2006/main">
              <a:ext uri="{FF2B5EF4-FFF2-40B4-BE49-F238E27FC236}">
                <a16:creationId xmlns:a16="http://schemas.microsoft.com/office/drawing/2014/main" id="{D0DF53CD-D501-49BC-A0DD-B237E1D6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52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B3E0257-2384-4881-A036-D077D9DE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95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1022"/>
                </a:solidFill>
              </a:defRPr>
            </a:pPr>
            <a:r>
              <a:rPr sz="1575" b="1" i="0">
                <a:solidFill>
                  <a:srgbClr val="141022"/>
                </a:solidFill>
              </a:rPr>
              <a:t>Create smarter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8512DAE-3DE6-49E3-9FAC-67CDA0F5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95675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657A"/>
                </a:solidFill>
              </a:defRPr>
            </a:pPr>
            <a:r>
              <a:rPr sz="1125" b="0" i="0">
                <a:solidFill>
                  <a:srgbClr val="6B657A"/>
                </a:solidFill>
              </a:rPr>
              <a:t>Inform commissioning, acquisition, and creator briefs.</a:t>
            </a:r>
          </a:p>
        </p:txBody>
      </p:sp>
      <p:sp>
        <p:nvSpPr>
          <p:cNvPr id="24" name="signal-quote">
            <a:extLst xmlns:a="http://schemas.openxmlformats.org/drawingml/2006/main">
              <a:ext uri="{FF2B5EF4-FFF2-40B4-BE49-F238E27FC236}">
                <a16:creationId xmlns:a16="http://schemas.microsoft.com/office/drawing/2014/main" id="{C31369B8-F231-43C1-8161-49AAF542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10287000" cy="714375"/>
          </a:xfrm>
          <a:prstGeom xmlns:a="http://schemas.openxmlformats.org/drawingml/2006/main" prst="roundRect">
            <a:avLst>
              <a:gd name="adj" fmla="val 21333"/>
            </a:avLst>
          </a:prstGeom>
          <a:solidFill xmlns:a="http://schemas.openxmlformats.org/drawingml/2006/main">
            <a:srgbClr val="1410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B5E5B52-7CF0-4CD4-9979-DF29F904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976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Discovery becomes a two-way listening loop: consumers reveal demand; Pocket FM decides what to make next.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D62A12D-D50E-4872-B4AF-7F6A7A81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DFEA"/>
            </a:solidFill>
            <a:prstDash val="solid"/>
          </a:ln>
        </p:spPr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03CE83FA-9CB4-44D5-A7D1-166E05C4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97186"/>
                </a:solidFill>
              </a:defRPr>
            </a:pPr>
            <a:r>
              <a:rPr sz="750" b="1" i="0">
                <a:solidFill>
                  <a:srgbClr val="797186"/>
                </a:solidFill>
              </a:rPr>
              <a:t>MOOD FIRST SEARCH  •  ZERO TO ONE BY POCKET FM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CC66889-ECAA-4472-9D7E-FE1B9B59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97186"/>
                </a:solidFill>
              </a:defRPr>
            </a:pPr>
            <a:r>
              <a:rPr sz="750" b="1" i="0">
                <a:solidFill>
                  <a:srgbClr val="79718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88593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E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940ACE0E-EE07-4B5E-9359-31673832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4A969"/>
                </a:solidFill>
              </a:defRPr>
            </a:pPr>
            <a:r>
              <a:rPr sz="975" b="1" i="0">
                <a:solidFill>
                  <a:srgbClr val="24A969"/>
                </a:solidFill>
              </a:rPr>
              <a:t>BUSINESS IMPACT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87CFC99F-C8F6-4B90-A415-466671BC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41022"/>
                </a:solidFill>
              </a:defRPr>
            </a:pPr>
            <a:r>
              <a:rPr sz="2775" b="1" i="0">
                <a:solidFill>
                  <a:srgbClr val="141022"/>
                </a:solidFill>
              </a:rPr>
              <a:t>Emotion-led discovery compounds.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B742FE-3EBB-4721-BB38-2FCCD8BE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72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B657A"/>
                </a:solidFill>
              </a:defRPr>
            </a:pPr>
            <a:r>
              <a:rPr sz="900" b="1" i="0">
                <a:solidFill>
                  <a:srgbClr val="6B657A"/>
                </a:solidFill>
              </a:rPr>
              <a:t>11  /  12</a:t>
            </a:r>
          </a:p>
        </p:txBody>
      </p:sp>
      <p:sp>
        <p:nvSpPr>
          <p:cNvPr id="4" name="impact-0">
            <a:extLst xmlns:a="http://schemas.openxmlformats.org/drawingml/2006/main">
              <a:ext uri="{FF2B5EF4-FFF2-40B4-BE49-F238E27FC236}">
                <a16:creationId xmlns:a16="http://schemas.microsoft.com/office/drawing/2014/main" id="{91375B27-54D5-48EA-82CC-B5442515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4325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E4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impact-num-0">
            <a:extLst xmlns:a="http://schemas.openxmlformats.org/drawingml/2006/main">
              <a:ext uri="{FF2B5EF4-FFF2-40B4-BE49-F238E27FC236}">
                <a16:creationId xmlns:a16="http://schemas.microsoft.com/office/drawing/2014/main" id="{15135BEF-AC4D-448C-9FC7-A81F7730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F282957-DEC0-411A-98FF-4441F876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1022"/>
                </a:solidFill>
              </a:defRPr>
            </a:pPr>
            <a:r>
              <a:rPr sz="1725" b="1" i="0">
                <a:solidFill>
                  <a:srgbClr val="141022"/>
                </a:solidFill>
              </a:rPr>
              <a:t>Higher first-play confidence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3CD21E9-C3C6-4F02-B34A-3C18E26E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657A"/>
                </a:solidFill>
              </a:defRPr>
            </a:pPr>
            <a:r>
              <a:rPr sz="1200" b="0" i="0">
                <a:solidFill>
                  <a:srgbClr val="6B657A"/>
                </a:solidFill>
              </a:rPr>
              <a:t>A user sees a story that matches the moment — with a reason to trust it.</a:t>
            </a:r>
          </a:p>
        </p:txBody>
      </p:sp>
      <p:sp>
        <p:nvSpPr>
          <p:cNvPr id="8" name="impact-1">
            <a:extLst xmlns:a="http://schemas.openxmlformats.org/drawingml/2006/main">
              <a:ext uri="{FF2B5EF4-FFF2-40B4-BE49-F238E27FC236}">
                <a16:creationId xmlns:a16="http://schemas.microsoft.com/office/drawing/2014/main" id="{7AA4B32C-366D-4818-B64F-6A71FB12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90750"/>
            <a:ext cx="314325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E4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impact-num-1">
            <a:extLst xmlns:a="http://schemas.openxmlformats.org/drawingml/2006/main">
              <a:ext uri="{FF2B5EF4-FFF2-40B4-BE49-F238E27FC236}">
                <a16:creationId xmlns:a16="http://schemas.microsoft.com/office/drawing/2014/main" id="{EFF1D4AA-9694-44C5-8903-0471337C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76500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E11AA9F-FA89-4057-A70A-245BF695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623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1022"/>
                </a:solidFill>
              </a:defRPr>
            </a:pPr>
            <a:r>
              <a:rPr sz="1725" b="1" i="0">
                <a:solidFill>
                  <a:srgbClr val="141022"/>
                </a:solidFill>
              </a:rPr>
              <a:t>More meaningful listening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C5602C3-707C-433F-8F3C-04A1AE3C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85762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657A"/>
                </a:solidFill>
              </a:defRPr>
            </a:pPr>
            <a:r>
              <a:rPr sz="1200" b="0" i="0">
                <a:solidFill>
                  <a:srgbClr val="6B657A"/>
                </a:solidFill>
              </a:rPr>
              <a:t>Better emotional fit creates the conditions for starts, sessions, and deeper engagement.</a:t>
            </a:r>
          </a:p>
        </p:txBody>
      </p:sp>
      <p:sp>
        <p:nvSpPr>
          <p:cNvPr id="12" name="impact-2">
            <a:extLst xmlns:a="http://schemas.openxmlformats.org/drawingml/2006/main">
              <a:ext uri="{FF2B5EF4-FFF2-40B4-BE49-F238E27FC236}">
                <a16:creationId xmlns:a16="http://schemas.microsoft.com/office/drawing/2014/main" id="{9354981E-2CAF-4E03-9632-891C438E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90750"/>
            <a:ext cx="314325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E4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impact-num-2">
            <a:extLst xmlns:a="http://schemas.openxmlformats.org/drawingml/2006/main">
              <a:ext uri="{FF2B5EF4-FFF2-40B4-BE49-F238E27FC236}">
                <a16:creationId xmlns:a16="http://schemas.microsoft.com/office/drawing/2014/main" id="{9C682673-8676-4FF2-BEE8-85B5DB9A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9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FFAE132-7BCB-495E-AD3A-790220A9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623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1022"/>
                </a:solidFill>
              </a:defRPr>
            </a:pPr>
            <a:r>
              <a:rPr sz="1725" b="1" i="0">
                <a:solidFill>
                  <a:srgbClr val="141022"/>
                </a:solidFill>
              </a:rPr>
              <a:t>Sharper content bets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B36F632-95AB-466D-BC42-90EEB6ED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5762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657A"/>
                </a:solidFill>
              </a:defRPr>
            </a:pPr>
            <a:r>
              <a:rPr sz="1200" b="0" i="0">
                <a:solidFill>
                  <a:srgbClr val="6B657A"/>
                </a:solidFill>
              </a:rPr>
              <a:t>Unmet-mood signals close the loop between audience appetite and creator opportunity.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B270A39-CAD5-47EF-A4B5-71D1210B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286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4A969"/>
                </a:solidFill>
              </a:defRPr>
            </a:pPr>
            <a:r>
              <a:rPr sz="975" b="1" i="0">
                <a:solidFill>
                  <a:srgbClr val="24A969"/>
                </a:solidFill>
              </a:rPr>
              <a:t>The strategic shift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5553565-2C6E-4AA8-B358-69CDD58C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2540"/>
                </a:solidFill>
              </a:defRPr>
            </a:pPr>
            <a:r>
              <a:rPr sz="1575" b="1" i="0">
                <a:solidFill>
                  <a:srgbClr val="2B2540"/>
                </a:solidFill>
              </a:rPr>
              <a:t>Mood First Search moves Pocket FM from catalog navigation to emotional fulfillment — while turning every query into learning.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6261E1F-E459-41E6-A7D2-72A5DD8E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DFEA"/>
            </a:solidFill>
            <a:prstDash val="solid"/>
          </a:ln>
        </p:spPr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ECEF51DA-625C-45DB-A083-CE5F2456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97186"/>
                </a:solidFill>
              </a:defRPr>
            </a:pPr>
            <a:r>
              <a:rPr sz="750" b="1" i="0">
                <a:solidFill>
                  <a:srgbClr val="797186"/>
                </a:solidFill>
              </a:rPr>
              <a:t>MOOD FIRST SEARCH  •  ZERO TO ONE BY POCKET FM</a:t>
            </a:r>
          </a:p>
        </p:txBody>
      </p:sp>
      <p:sp>
        <p:nvSpPr>
          <p:cNvPr id="2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18BF708-064C-4435-B1A7-2A698887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97186"/>
                </a:solidFill>
              </a:defRPr>
            </a:pPr>
            <a:r>
              <a:rPr sz="750" b="1" i="0">
                <a:solidFill>
                  <a:srgbClr val="79718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82430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0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final-orb">
            <a:extLst xmlns:a="http://schemas.openxmlformats.org/drawingml/2006/main">
              <a:ext uri="{FF2B5EF4-FFF2-40B4-BE49-F238E27FC236}">
                <a16:creationId xmlns:a16="http://schemas.microsoft.com/office/drawing/2014/main" id="{9AA847A6-7D90-44EB-A662-BEAF24F3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4286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1B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F947804-39D1-47D0-A2F9-AC09F09A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B703"/>
                </a:solidFill>
              </a:defRPr>
            </a:pPr>
            <a:r>
              <a:rPr sz="975" b="1" i="0">
                <a:solidFill>
                  <a:srgbClr val="FFB703"/>
                </a:solidFill>
              </a:rPr>
              <a:t>THE POCKET FM FLYWHEEL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566E647A-2A3F-41E8-9997-F5731CA0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704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75" b="1" i="0">
                <a:solidFill>
                  <a:srgbClr val="FFFFFF"/>
                </a:solidFill>
              </a:defRPr>
            </a:pPr>
            <a:r>
              <a:rPr sz="3975" b="1" i="0">
                <a:solidFill>
                  <a:srgbClr val="FFFFFF"/>
                </a:solidFill>
              </a:rPr>
              <a:t>Make every feeling</a:t>
            </a:r>
          </a:p>
          <a:p xmlns:a="http://schemas.openxmlformats.org/drawingml/2006/main">
            <a:pPr algn="l">
              <a:defRPr sz="3975" b="1" i="0">
                <a:solidFill>
                  <a:srgbClr val="FFFFFF"/>
                </a:solidFill>
              </a:defRPr>
            </a:pPr>
            <a:r>
              <a:rPr sz="3975" b="1" i="0">
                <a:solidFill>
                  <a:srgbClr val="FFFFFF"/>
                </a:solidFill>
              </a:rPr>
              <a:t>a doorway into</a:t>
            </a:r>
          </a:p>
          <a:p xmlns:a="http://schemas.openxmlformats.org/drawingml/2006/main">
            <a:pPr algn="l">
              <a:defRPr sz="3975" b="1" i="0">
                <a:solidFill>
                  <a:srgbClr val="FFFFFF"/>
                </a:solidFill>
              </a:defRPr>
            </a:pPr>
            <a:r>
              <a:rPr sz="3975" b="1" i="0">
                <a:solidFill>
                  <a:srgbClr val="FFFFFF"/>
                </a:solidFill>
              </a:rPr>
              <a:t>a Pocket FM story.</a:t>
            </a:r>
          </a:p>
        </p:txBody>
      </p:sp>
      <p:sp>
        <p:nvSpPr>
          <p:cNvPr id="4" name="fly-arrow-0">
            <a:extLst xmlns:a="http://schemas.openxmlformats.org/drawingml/2006/main">
              <a:ext uri="{FF2B5EF4-FFF2-40B4-BE49-F238E27FC236}">
                <a16:creationId xmlns:a16="http://schemas.microsoft.com/office/drawing/2014/main" id="{E5CAD085-3BFD-401D-ABD5-FC159504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76750"/>
            <a:ext cx="361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A5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y-0">
            <a:extLst xmlns:a="http://schemas.openxmlformats.org/drawingml/2006/main">
              <a:ext uri="{FF2B5EF4-FFF2-40B4-BE49-F238E27FC236}">
                <a16:creationId xmlns:a16="http://schemas.microsoft.com/office/drawing/2014/main" id="{510F7A88-BF73-4D25-A7D3-8BE7CA97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666875" cy="847725"/>
          </a:xfrm>
          <a:prstGeom xmlns:a="http://schemas.openxmlformats.org/drawingml/2006/main" prst="roundRect">
            <a:avLst>
              <a:gd name="adj" fmla="val 17978"/>
            </a:avLst>
          </a:prstGeom>
          <a:solidFill xmlns:a="http://schemas.openxmlformats.org/drawingml/2006/main">
            <a:srgbClr val="271D38"/>
          </a:solidFill>
          <a:ln xmlns:a="http://schemas.openxmlformats.org/drawingml/2006/main" w="9525">
            <a:solidFill>
              <a:srgbClr val="4B3D5D"/>
            </a:solidFill>
            <a:prstDash val="solid"/>
          </a:ln>
        </p:spPr>
      </p:sp>
      <p:sp>
        <p:nvSpPr>
          <p:cNvPr id="6" name="fly-dot-0">
            <a:extLst xmlns:a="http://schemas.openxmlformats.org/drawingml/2006/main">
              <a:ext uri="{FF2B5EF4-FFF2-40B4-BE49-F238E27FC236}">
                <a16:creationId xmlns:a16="http://schemas.microsoft.com/office/drawing/2014/main" id="{8FAFB0A1-E8C8-4B22-85AB-97793BD8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48FE92F-8B42-404F-9367-9AA5ED31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624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Emotion</a:t>
            </a:r>
          </a:p>
        </p:txBody>
      </p:sp>
      <p:sp>
        <p:nvSpPr>
          <p:cNvPr id="8" name="fly-arrow-1">
            <a:extLst xmlns:a="http://schemas.openxmlformats.org/drawingml/2006/main">
              <a:ext uri="{FF2B5EF4-FFF2-40B4-BE49-F238E27FC236}">
                <a16:creationId xmlns:a16="http://schemas.microsoft.com/office/drawing/2014/main" id="{0071E144-6E51-4366-BB36-A7BA3EBE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76750"/>
            <a:ext cx="361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A5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y-1">
            <a:extLst xmlns:a="http://schemas.openxmlformats.org/drawingml/2006/main">
              <a:ext uri="{FF2B5EF4-FFF2-40B4-BE49-F238E27FC236}">
                <a16:creationId xmlns:a16="http://schemas.microsoft.com/office/drawing/2014/main" id="{4165651C-33BB-4D9E-AF1C-E724E20E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71950"/>
            <a:ext cx="1666875" cy="847725"/>
          </a:xfrm>
          <a:prstGeom xmlns:a="http://schemas.openxmlformats.org/drawingml/2006/main" prst="roundRect">
            <a:avLst>
              <a:gd name="adj" fmla="val 17978"/>
            </a:avLst>
          </a:prstGeom>
          <a:solidFill xmlns:a="http://schemas.openxmlformats.org/drawingml/2006/main">
            <a:srgbClr val="271D38"/>
          </a:solidFill>
          <a:ln xmlns:a="http://schemas.openxmlformats.org/drawingml/2006/main" w="9525">
            <a:solidFill>
              <a:srgbClr val="4B3D5D"/>
            </a:solidFill>
            <a:prstDash val="solid"/>
          </a:ln>
        </p:spPr>
      </p:sp>
      <p:sp>
        <p:nvSpPr>
          <p:cNvPr id="10" name="fly-dot-1">
            <a:extLst xmlns:a="http://schemas.openxmlformats.org/drawingml/2006/main">
              <a:ext uri="{FF2B5EF4-FFF2-40B4-BE49-F238E27FC236}">
                <a16:creationId xmlns:a16="http://schemas.microsoft.com/office/drawing/2014/main" id="{17BD965B-8F0C-4386-B87E-1996D9F6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00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8096B1B-9147-4518-9185-5F1DE83B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624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Discovery</a:t>
            </a:r>
          </a:p>
        </p:txBody>
      </p:sp>
      <p:sp>
        <p:nvSpPr>
          <p:cNvPr id="12" name="fly-arrow-2">
            <a:extLst xmlns:a="http://schemas.openxmlformats.org/drawingml/2006/main">
              <a:ext uri="{FF2B5EF4-FFF2-40B4-BE49-F238E27FC236}">
                <a16:creationId xmlns:a16="http://schemas.microsoft.com/office/drawing/2014/main" id="{CF476B2F-23AC-4102-BEFE-F0E5D67A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361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A5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y-2">
            <a:extLst xmlns:a="http://schemas.openxmlformats.org/drawingml/2006/main">
              <a:ext uri="{FF2B5EF4-FFF2-40B4-BE49-F238E27FC236}">
                <a16:creationId xmlns:a16="http://schemas.microsoft.com/office/drawing/2014/main" id="{EEF01C92-ADEF-4926-9A5C-D4579681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71950"/>
            <a:ext cx="1666875" cy="847725"/>
          </a:xfrm>
          <a:prstGeom xmlns:a="http://schemas.openxmlformats.org/drawingml/2006/main" prst="roundRect">
            <a:avLst>
              <a:gd name="adj" fmla="val 17978"/>
            </a:avLst>
          </a:prstGeom>
          <a:solidFill xmlns:a="http://schemas.openxmlformats.org/drawingml/2006/main">
            <a:srgbClr val="271D38"/>
          </a:solidFill>
          <a:ln xmlns:a="http://schemas.openxmlformats.org/drawingml/2006/main" w="9525">
            <a:solidFill>
              <a:srgbClr val="4B3D5D"/>
            </a:solidFill>
            <a:prstDash val="solid"/>
          </a:ln>
        </p:spPr>
      </p:sp>
      <p:sp>
        <p:nvSpPr>
          <p:cNvPr id="14" name="fly-dot-2">
            <a:extLst xmlns:a="http://schemas.openxmlformats.org/drawingml/2006/main">
              <a:ext uri="{FF2B5EF4-FFF2-40B4-BE49-F238E27FC236}">
                <a16:creationId xmlns:a16="http://schemas.microsoft.com/office/drawing/2014/main" id="{6F1D1608-534C-4EC5-B823-29AA37D7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00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D3456D4-A72D-44A1-A279-BDEEF87F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624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Listening</a:t>
            </a:r>
          </a:p>
        </p:txBody>
      </p:sp>
      <p:sp>
        <p:nvSpPr>
          <p:cNvPr id="16" name="fly-arrow-3">
            <a:extLst xmlns:a="http://schemas.openxmlformats.org/drawingml/2006/main">
              <a:ext uri="{FF2B5EF4-FFF2-40B4-BE49-F238E27FC236}">
                <a16:creationId xmlns:a16="http://schemas.microsoft.com/office/drawing/2014/main" id="{6C21A4F3-AEF8-41D0-9C99-B9B9CF5D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6750"/>
            <a:ext cx="361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A5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ly-3">
            <a:extLst xmlns:a="http://schemas.openxmlformats.org/drawingml/2006/main">
              <a:ext uri="{FF2B5EF4-FFF2-40B4-BE49-F238E27FC236}">
                <a16:creationId xmlns:a16="http://schemas.microsoft.com/office/drawing/2014/main" id="{1F259266-690B-4D86-A511-FC9EDF79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71950"/>
            <a:ext cx="1666875" cy="847725"/>
          </a:xfrm>
          <a:prstGeom xmlns:a="http://schemas.openxmlformats.org/drawingml/2006/main" prst="roundRect">
            <a:avLst>
              <a:gd name="adj" fmla="val 17978"/>
            </a:avLst>
          </a:prstGeom>
          <a:solidFill xmlns:a="http://schemas.openxmlformats.org/drawingml/2006/main">
            <a:srgbClr val="271D38"/>
          </a:solidFill>
          <a:ln xmlns:a="http://schemas.openxmlformats.org/drawingml/2006/main" w="9525">
            <a:solidFill>
              <a:srgbClr val="4B3D5D"/>
            </a:solidFill>
            <a:prstDash val="solid"/>
          </a:ln>
        </p:spPr>
      </p:sp>
      <p:sp>
        <p:nvSpPr>
          <p:cNvPr id="18" name="fly-dot-3">
            <a:extLst xmlns:a="http://schemas.openxmlformats.org/drawingml/2006/main">
              <a:ext uri="{FF2B5EF4-FFF2-40B4-BE49-F238E27FC236}">
                <a16:creationId xmlns:a16="http://schemas.microsoft.com/office/drawing/2014/main" id="{88D47DC4-15ED-46F7-BBAB-B6726082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00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FCDF519-5339-4EC3-B937-C5E0B3F8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624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20" name="fly-arrow-4">
            <a:extLst xmlns:a="http://schemas.openxmlformats.org/drawingml/2006/main">
              <a:ext uri="{FF2B5EF4-FFF2-40B4-BE49-F238E27FC236}">
                <a16:creationId xmlns:a16="http://schemas.microsoft.com/office/drawing/2014/main" id="{A0B9D988-38DE-4E1F-8BAB-F1A9B687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476750"/>
            <a:ext cx="361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A5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y-4">
            <a:extLst xmlns:a="http://schemas.openxmlformats.org/drawingml/2006/main">
              <a:ext uri="{FF2B5EF4-FFF2-40B4-BE49-F238E27FC236}">
                <a16:creationId xmlns:a16="http://schemas.microsoft.com/office/drawing/2014/main" id="{05E98090-9DCE-4556-AD45-C4497E78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71950"/>
            <a:ext cx="1666875" cy="847725"/>
          </a:xfrm>
          <a:prstGeom xmlns:a="http://schemas.openxmlformats.org/drawingml/2006/main" prst="roundRect">
            <a:avLst>
              <a:gd name="adj" fmla="val 17978"/>
            </a:avLst>
          </a:prstGeom>
          <a:solidFill xmlns:a="http://schemas.openxmlformats.org/drawingml/2006/main">
            <a:srgbClr val="271D38"/>
          </a:solidFill>
          <a:ln xmlns:a="http://schemas.openxmlformats.org/drawingml/2006/main" w="9525">
            <a:solidFill>
              <a:srgbClr val="4B3D5D"/>
            </a:solidFill>
            <a:prstDash val="solid"/>
          </a:ln>
        </p:spPr>
      </p:sp>
      <p:sp>
        <p:nvSpPr>
          <p:cNvPr id="22" name="fly-dot-4">
            <a:extLst xmlns:a="http://schemas.openxmlformats.org/drawingml/2006/main">
              <a:ext uri="{FF2B5EF4-FFF2-40B4-BE49-F238E27FC236}">
                <a16:creationId xmlns:a16="http://schemas.microsoft.com/office/drawing/2014/main" id="{798B3316-EA50-4C03-BED1-6BDA2AA5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00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49C4204-5F3C-4117-AFF1-789FB3E8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624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Smarter supply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5EB6F63-13A6-4697-B5EE-76618EEC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D5E6"/>
                </a:solidFill>
              </a:defRPr>
            </a:pPr>
            <a:r>
              <a:rPr sz="1350" b="0" i="0">
                <a:solidFill>
                  <a:srgbClr val="DCD5E6"/>
                </a:solidFill>
              </a:rPr>
              <a:t>Pilot recommendation: launch a curated content-slice experiment, instrument mood-query gaps, and validate lift in discovery confidence.</a:t>
            </a:r>
          </a:p>
        </p:txBody>
      </p:sp>
      <p:sp>
        <p:nvSpPr>
          <p:cNvPr id="2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64B5831-25E3-4998-B1F6-EAC9A060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25675"/>
            </a:solidFill>
            <a:prstDash val="solid"/>
          </a:ln>
        </p:spPr>
      </p:sp>
      <p:sp>
        <p:nvSpPr>
          <p:cNvPr id="26" name="footer">
            <a:extLst xmlns:a="http://schemas.openxmlformats.org/drawingml/2006/main">
              <a:ext uri="{FF2B5EF4-FFF2-40B4-BE49-F238E27FC236}">
                <a16:creationId xmlns:a16="http://schemas.microsoft.com/office/drawing/2014/main" id="{BF99AEAC-A390-46D0-8697-DC153161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DCD5E6"/>
                </a:solidFill>
              </a:defRPr>
            </a:pPr>
            <a:r>
              <a:rPr sz="750" b="1" i="0">
                <a:solidFill>
                  <a:srgbClr val="DCD5E6"/>
                </a:solidFill>
              </a:rPr>
              <a:t>MOOD FIRST SEARCH  •  ZERO TO ONE BY POCKET FM</a:t>
            </a:r>
          </a:p>
        </p:txBody>
      </p:sp>
      <p:sp>
        <p:nvSpPr>
          <p:cNvPr id="2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9C6FCCB-E06A-4D92-9782-B2CC40A5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DCD5E6"/>
                </a:solidFill>
              </a:defRPr>
            </a:pPr>
            <a:r>
              <a:rPr sz="750" b="1" i="0">
                <a:solidFill>
                  <a:srgbClr val="DCD5E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90490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2026-07-26T06:11:17.7130000Z</dcterms:created>
  <dcterms:modified xsi:type="dcterms:W3CDTF">2026-07-26T06:11:17.7130000Z</dcterms:modified>
</coreProperties>
</file>